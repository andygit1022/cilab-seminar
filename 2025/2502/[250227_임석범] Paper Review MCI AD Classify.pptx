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572" r:id="rId4"/>
    <p:sldId id="573" r:id="rId5"/>
    <p:sldId id="612" r:id="rId6"/>
    <p:sldId id="622" r:id="rId7"/>
    <p:sldId id="646" r:id="rId8"/>
    <p:sldId id="624" r:id="rId9"/>
    <p:sldId id="623" r:id="rId10"/>
    <p:sldId id="647" r:id="rId11"/>
    <p:sldId id="615" r:id="rId12"/>
    <p:sldId id="625" r:id="rId13"/>
    <p:sldId id="626" r:id="rId14"/>
    <p:sldId id="627" r:id="rId15"/>
    <p:sldId id="629" r:id="rId16"/>
    <p:sldId id="630" r:id="rId17"/>
    <p:sldId id="631" r:id="rId18"/>
    <p:sldId id="632" r:id="rId19"/>
    <p:sldId id="633" r:id="rId20"/>
    <p:sldId id="634" r:id="rId21"/>
    <p:sldId id="635" r:id="rId22"/>
    <p:sldId id="637" r:id="rId23"/>
    <p:sldId id="636" r:id="rId24"/>
    <p:sldId id="638" r:id="rId25"/>
    <p:sldId id="639" r:id="rId26"/>
    <p:sldId id="584" r:id="rId27"/>
    <p:sldId id="640" r:id="rId28"/>
    <p:sldId id="641" r:id="rId29"/>
    <p:sldId id="642" r:id="rId30"/>
    <p:sldId id="643" r:id="rId31"/>
    <p:sldId id="297" r:id="rId32"/>
  </p:sldIdLst>
  <p:sldSz cx="9144000" cy="5143500" type="screen16x9"/>
  <p:notesSz cx="6858000" cy="9144000"/>
  <p:embeddedFontLst>
    <p:embeddedFont>
      <p:font typeface="Proxima Nova" panose="020B0600000101010101" charset="0"/>
      <p:regular r:id="rId34"/>
      <p:bold r:id="rId35"/>
      <p:italic r:id="rId36"/>
      <p:boldItalic r:id="rId37"/>
    </p:embeddedFont>
    <p:embeddedFont>
      <p:font typeface="Proxima Nova Extrabold" panose="020B0600000101010101" charset="0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EDEDE"/>
    <a:srgbClr val="6600FF"/>
    <a:srgbClr val="F0EA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4874" autoAdjust="0"/>
  </p:normalViewPr>
  <p:slideViewPr>
    <p:cSldViewPr snapToGrid="0">
      <p:cViewPr varScale="1">
        <p:scale>
          <a:sx n="125" d="100"/>
          <a:sy n="125" d="100"/>
        </p:scale>
        <p:origin x="123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36bc343d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f36bc343d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f36bc343d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f36bc343d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F7E9CF9-88ED-E661-54F0-1462D734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B634E9DD-C32D-10DD-B316-FB0230F06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E2C0DA10-C848-C519-F4D4-BD054EAE45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감성 분석</a:t>
            </a:r>
            <a:r>
              <a:rPr lang="en-US" altLang="ko-KR"/>
              <a:t>(Sentiment Analysis)</a:t>
            </a:r>
            <a:r>
              <a:rPr lang="ko-KR" altLang="en-US"/>
              <a:t>에서 사용되는 단어 사전으로</a:t>
            </a:r>
            <a:r>
              <a:rPr lang="en-US" altLang="ko-KR"/>
              <a:t>, </a:t>
            </a:r>
            <a:r>
              <a:rPr lang="ko-KR" altLang="en-US"/>
              <a:t>특정 단어가 긍정적</a:t>
            </a:r>
            <a:r>
              <a:rPr lang="en-US" altLang="ko-KR"/>
              <a:t>(positive)</a:t>
            </a:r>
            <a:r>
              <a:rPr lang="ko-KR" altLang="en-US"/>
              <a:t>인지 부정적</a:t>
            </a:r>
            <a:r>
              <a:rPr lang="en-US" altLang="ko-KR"/>
              <a:t>(negative)</a:t>
            </a:r>
            <a:r>
              <a:rPr lang="ko-KR" altLang="en-US"/>
              <a:t>인지를 나타내는 정보가 포함되어 있음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7669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B5E4CA8-E6A0-CF0E-B09D-F7087EBE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D7733AF6-43A0-0D9D-7910-D2E93F1982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DE5C153B-0A20-A97A-5A30-4438F651C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b="1"/>
              <a:t>연구 배경</a:t>
            </a:r>
            <a:endParaRPr lang="ko-KR" altLang="en-US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기존의 전통적인 진단 방법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신경심리검사</a:t>
            </a:r>
            <a:r>
              <a:rPr lang="en-US" altLang="ko-KR"/>
              <a:t>, </a:t>
            </a:r>
            <a:r>
              <a:rPr lang="ko-KR" altLang="en-US"/>
              <a:t>영상 검사 등</a:t>
            </a:r>
            <a:r>
              <a:rPr lang="en-US" altLang="ko-KR"/>
              <a:t>)</a:t>
            </a:r>
            <a:r>
              <a:rPr lang="ko-KR" altLang="en-US"/>
              <a:t>은 비용과 시간이 많이 들며</a:t>
            </a:r>
            <a:r>
              <a:rPr lang="en-US" altLang="ko-KR"/>
              <a:t>, </a:t>
            </a:r>
            <a:r>
              <a:rPr lang="ko-KR" altLang="en-US"/>
              <a:t>조기 진단이 쉽지 않습니다</a:t>
            </a:r>
            <a:r>
              <a:rPr lang="en-US" altLang="ko-KR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최근에는 *자연어 처리</a:t>
            </a:r>
            <a:r>
              <a:rPr lang="en-US" altLang="ko-KR"/>
              <a:t>(NLP)*</a:t>
            </a:r>
            <a:r>
              <a:rPr lang="ko-KR" altLang="en-US"/>
              <a:t>와 </a:t>
            </a:r>
            <a:r>
              <a:rPr lang="ko-KR" altLang="en-US" i="1"/>
              <a:t>머신 러닝</a:t>
            </a:r>
            <a:r>
              <a:rPr lang="en-US" altLang="ko-KR" i="1"/>
              <a:t>(ML)</a:t>
            </a:r>
            <a:r>
              <a:rPr lang="ko-KR" altLang="en-US"/>
              <a:t> 기법을 활용하여 일상적인 ‘자발화</a:t>
            </a:r>
            <a:r>
              <a:rPr lang="en-US" altLang="ko-KR"/>
              <a:t>(spontaneous speech)’</a:t>
            </a:r>
            <a:r>
              <a:rPr lang="ko-KR" altLang="en-US"/>
              <a:t>로부터 </a:t>
            </a:r>
            <a:r>
              <a:rPr lang="en-US" altLang="ko-KR"/>
              <a:t>AD</a:t>
            </a:r>
            <a:r>
              <a:rPr lang="ko-KR" altLang="en-US"/>
              <a:t>를 자동으로 판별하거나</a:t>
            </a:r>
            <a:r>
              <a:rPr lang="en-US" altLang="ko-KR"/>
              <a:t>, </a:t>
            </a:r>
            <a:r>
              <a:rPr lang="ko-KR" altLang="en-US"/>
              <a:t>인지 능력 점수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MMSE)</a:t>
            </a:r>
            <a:r>
              <a:rPr lang="ko-KR" altLang="en-US"/>
              <a:t>를 예측하려는 연구가 활발히 진행되고 있습니다</a:t>
            </a:r>
            <a:r>
              <a:rPr lang="en-US" altLang="ko-KR"/>
              <a:t>.</a:t>
            </a:r>
          </a:p>
          <a:p>
            <a:r>
              <a:rPr lang="ko-KR" altLang="en-US" b="1"/>
              <a:t>연구 목적</a:t>
            </a:r>
            <a:endParaRPr lang="ko-KR" altLang="en-US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이 논문은 </a:t>
            </a:r>
            <a:r>
              <a:rPr lang="en-US" altLang="ko-KR"/>
              <a:t>AD</a:t>
            </a:r>
            <a:r>
              <a:rPr lang="ko-KR" altLang="en-US"/>
              <a:t>의 자동 진단을 위해 두 가지 큰 접근 방식을 비교합니다</a:t>
            </a:r>
            <a:r>
              <a:rPr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1"/>
              <a:t>도메인 지식 기반</a:t>
            </a:r>
            <a:r>
              <a:rPr lang="en-US" altLang="ko-KR" b="1"/>
              <a:t>(domain knowledge-based) </a:t>
            </a:r>
            <a:r>
              <a:rPr lang="ko-KR" altLang="en-US" b="1"/>
              <a:t>접근</a:t>
            </a:r>
            <a:r>
              <a:rPr lang="en-US" altLang="ko-KR"/>
              <a:t>: </a:t>
            </a:r>
            <a:r>
              <a:rPr lang="ko-KR" altLang="en-US"/>
              <a:t>기존 연구에서 </a:t>
            </a:r>
            <a:r>
              <a:rPr lang="en-US" altLang="ko-KR"/>
              <a:t>AD </a:t>
            </a:r>
            <a:r>
              <a:rPr lang="ko-KR" altLang="en-US"/>
              <a:t>감지에 효과적이라고 알려진 언어</a:t>
            </a:r>
            <a:r>
              <a:rPr lang="en-US" altLang="ko-KR"/>
              <a:t>(linguistic) </a:t>
            </a:r>
            <a:r>
              <a:rPr lang="ko-KR" altLang="en-US"/>
              <a:t>및 음향</a:t>
            </a:r>
            <a:r>
              <a:rPr lang="en-US" altLang="ko-KR"/>
              <a:t>(acoustic) </a:t>
            </a:r>
            <a:r>
              <a:rPr lang="ko-KR" altLang="en-US"/>
              <a:t>특징을 직접 추출하여 전통적 머신 러닝 분류</a:t>
            </a:r>
            <a:r>
              <a:rPr lang="en-US" altLang="ko-KR"/>
              <a:t>/</a:t>
            </a:r>
            <a:r>
              <a:rPr lang="ko-KR" altLang="en-US"/>
              <a:t>회귀 기법에 입력하는 방법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1"/>
              <a:t>사전학습 언어모델</a:t>
            </a:r>
            <a:r>
              <a:rPr lang="en-US" altLang="ko-KR" b="1"/>
              <a:t>(BERT) </a:t>
            </a:r>
            <a:r>
              <a:rPr lang="ko-KR" altLang="en-US" b="1"/>
              <a:t>기반 접근</a:t>
            </a:r>
            <a:r>
              <a:rPr lang="en-US" altLang="ko-KR"/>
              <a:t>: </a:t>
            </a:r>
            <a:r>
              <a:rPr lang="ko-KR" altLang="en-US"/>
              <a:t>사전학습</a:t>
            </a:r>
            <a:r>
              <a:rPr lang="en-US" altLang="ko-KR"/>
              <a:t>(Pre-trained)</a:t>
            </a:r>
            <a:r>
              <a:rPr lang="ko-KR" altLang="en-US"/>
              <a:t>된 </a:t>
            </a:r>
            <a:r>
              <a:rPr lang="en-US" altLang="ko-KR"/>
              <a:t>BERT </a:t>
            </a:r>
            <a:r>
              <a:rPr lang="ko-KR" altLang="en-US"/>
              <a:t>모델을 미세조정</a:t>
            </a:r>
            <a:r>
              <a:rPr lang="en-US" altLang="ko-KR"/>
              <a:t>(fine-tuning)</a:t>
            </a:r>
            <a:r>
              <a:rPr lang="ko-KR" altLang="en-US"/>
              <a:t>하여 </a:t>
            </a:r>
            <a:r>
              <a:rPr lang="en-US" altLang="ko-KR"/>
              <a:t>AD </a:t>
            </a:r>
            <a:r>
              <a:rPr lang="ko-KR" altLang="en-US"/>
              <a:t>여부를 분류하는 방법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더 구체적으로</a:t>
            </a:r>
            <a:r>
              <a:rPr lang="en-US" altLang="ko-KR"/>
              <a:t>, </a:t>
            </a:r>
            <a:r>
              <a:rPr lang="ko-KR" altLang="en-US"/>
              <a:t>저자들은 </a:t>
            </a:r>
            <a:r>
              <a:rPr lang="en-US" altLang="ko-KR" b="1"/>
              <a:t>ADReSS(Alzheimer’s Dementia Recognition through Spontaneous Speech) </a:t>
            </a:r>
            <a:r>
              <a:rPr lang="ko-KR" altLang="en-US" b="1"/>
              <a:t>챌린지</a:t>
            </a:r>
            <a:r>
              <a:rPr lang="ko-KR" altLang="en-US"/>
              <a:t> 데이터셋</a:t>
            </a:r>
            <a:r>
              <a:rPr lang="en-US" altLang="ko-KR"/>
              <a:t>(</a:t>
            </a:r>
            <a:r>
              <a:rPr lang="ko-KR" altLang="en-US"/>
              <a:t>말소리와 전사</a:t>
            </a:r>
            <a:r>
              <a:rPr lang="en-US" altLang="ko-KR"/>
              <a:t>)</a:t>
            </a:r>
            <a:r>
              <a:rPr lang="ko-KR" altLang="en-US"/>
              <a:t>을 이용해 다음 두 과제를 수행합니다</a:t>
            </a:r>
            <a:r>
              <a:rPr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/>
              <a:t>AD vs. Non-AD </a:t>
            </a:r>
            <a:r>
              <a:rPr lang="ko-KR" altLang="en-US" b="1"/>
              <a:t>이진 분류</a:t>
            </a:r>
            <a:endParaRPr lang="ko-KR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/>
              <a:t>MMSE(</a:t>
            </a:r>
            <a:r>
              <a:rPr lang="ko-KR" altLang="en-US" b="1"/>
              <a:t>간이정신상태검사</a:t>
            </a:r>
            <a:r>
              <a:rPr lang="en-US" altLang="ko-KR" b="1"/>
              <a:t>) </a:t>
            </a:r>
            <a:r>
              <a:rPr lang="ko-KR" altLang="en-US" b="1"/>
              <a:t>점수 회귀 예측</a:t>
            </a:r>
            <a:endParaRPr lang="en-US" altLang="ko-KR" b="1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b="1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b="1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b="1"/>
              <a:t>도메인 지식 기반</a:t>
            </a:r>
            <a:r>
              <a:rPr lang="en-US" altLang="ko-KR" b="1"/>
              <a:t>(domain knowledge-based) </a:t>
            </a:r>
            <a:r>
              <a:rPr lang="ko-KR" altLang="en-US" b="1"/>
              <a:t>접근</a:t>
            </a:r>
            <a:r>
              <a:rPr lang="en-US" altLang="ko-KR"/>
              <a:t>: </a:t>
            </a:r>
            <a:r>
              <a:rPr lang="ko-KR" altLang="en-US"/>
              <a:t>기존 연구에서 </a:t>
            </a:r>
            <a:r>
              <a:rPr lang="en-US" altLang="ko-KR"/>
              <a:t>AD </a:t>
            </a:r>
            <a:r>
              <a:rPr lang="ko-KR" altLang="en-US"/>
              <a:t>감지에 효과적이라고 알려진 언어</a:t>
            </a:r>
            <a:r>
              <a:rPr lang="en-US" altLang="ko-KR"/>
              <a:t>(linguistic) </a:t>
            </a:r>
            <a:r>
              <a:rPr lang="ko-KR" altLang="en-US"/>
              <a:t>및 음향</a:t>
            </a:r>
            <a:r>
              <a:rPr lang="en-US" altLang="ko-KR"/>
              <a:t>(acoustic) </a:t>
            </a:r>
            <a:r>
              <a:rPr lang="ko-KR" altLang="en-US"/>
              <a:t>특징을 직접 추출하여 전통적 머신 러닝 분류</a:t>
            </a:r>
            <a:r>
              <a:rPr lang="en-US" altLang="ko-KR"/>
              <a:t>/</a:t>
            </a:r>
            <a:r>
              <a:rPr lang="ko-KR" altLang="en-US"/>
              <a:t>회귀 기법에 입력하는 방법</a:t>
            </a:r>
            <a:r>
              <a:rPr lang="ko-KR" altLang="en-US" b="1"/>
              <a:t>사전학습 언어모델</a:t>
            </a:r>
            <a:r>
              <a:rPr lang="en-US" altLang="ko-KR" b="1"/>
              <a:t>(BERT) </a:t>
            </a:r>
            <a:r>
              <a:rPr lang="ko-KR" altLang="en-US" b="1"/>
              <a:t>기반 접근</a:t>
            </a:r>
            <a:r>
              <a:rPr lang="en-US" altLang="ko-KR"/>
              <a:t>: </a:t>
            </a:r>
            <a:r>
              <a:rPr lang="ko-KR" altLang="en-US"/>
              <a:t>사전학습</a:t>
            </a:r>
            <a:r>
              <a:rPr lang="en-US" altLang="ko-KR"/>
              <a:t>(Pre-trained)</a:t>
            </a:r>
            <a:r>
              <a:rPr lang="ko-KR" altLang="en-US"/>
              <a:t>된 </a:t>
            </a:r>
            <a:r>
              <a:rPr lang="en-US" altLang="ko-KR"/>
              <a:t>BERT </a:t>
            </a:r>
            <a:r>
              <a:rPr lang="ko-KR" altLang="en-US"/>
              <a:t>모델을 미세조정</a:t>
            </a:r>
            <a:r>
              <a:rPr lang="en-US" altLang="ko-KR"/>
              <a:t>(fine-tuning)</a:t>
            </a:r>
            <a:r>
              <a:rPr lang="ko-KR" altLang="en-US"/>
              <a:t>하여 </a:t>
            </a:r>
            <a:r>
              <a:rPr lang="en-US" altLang="ko-KR"/>
              <a:t>AD </a:t>
            </a:r>
            <a:r>
              <a:rPr lang="ko-KR" altLang="en-US"/>
              <a:t>여부를 분류하는 방법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968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C5A7010-AA9F-EDE5-8523-6A4454AB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3440AC08-D241-9917-C568-5E318EBF2F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351DDDD3-394B-C52D-ECF3-0642A0F05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b="1"/>
              <a:t>사용된 데이터셋</a:t>
            </a:r>
            <a:r>
              <a:rPr lang="en-US" altLang="ko-KR" b="1"/>
              <a:t>: ADReSS Challenge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ADReSS Challenge </a:t>
            </a:r>
            <a:r>
              <a:rPr lang="ko-KR" altLang="en-US" b="1"/>
              <a:t>데이터셋</a:t>
            </a:r>
            <a:endParaRPr lang="ko-KR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Cookie Theft </a:t>
            </a:r>
            <a:r>
              <a:rPr lang="ko-KR" altLang="en-US"/>
              <a:t>그림</a:t>
            </a:r>
            <a:r>
              <a:rPr lang="en-US" altLang="ko-KR"/>
              <a:t>(</a:t>
            </a:r>
            <a:r>
              <a:rPr lang="ko-KR" altLang="en-US"/>
              <a:t>보스턴 실어증 검사</a:t>
            </a:r>
            <a:r>
              <a:rPr lang="en-US" altLang="ko-KR"/>
              <a:t>, Boston Diagnostic Aphasia Exam)</a:t>
            </a:r>
            <a:r>
              <a:rPr lang="ko-KR" altLang="en-US"/>
              <a:t>을 보고 사람들이 묘사한 음성 및 전사 텍스트가 포함되어 있습니다</a:t>
            </a:r>
            <a:r>
              <a:rPr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총 </a:t>
            </a:r>
            <a:r>
              <a:rPr lang="en-US" altLang="ko-KR"/>
              <a:t>156</a:t>
            </a:r>
            <a:r>
              <a:rPr lang="ko-KR" altLang="en-US"/>
              <a:t>개 샘플</a:t>
            </a:r>
            <a:r>
              <a:rPr lang="en-US" altLang="ko-KR"/>
              <a:t>(AD 78</a:t>
            </a:r>
            <a:r>
              <a:rPr lang="ko-KR" altLang="en-US"/>
              <a:t>명</a:t>
            </a:r>
            <a:r>
              <a:rPr lang="en-US" altLang="ko-KR"/>
              <a:t>, Non-AD 78</a:t>
            </a:r>
            <a:r>
              <a:rPr lang="ko-KR" altLang="en-US"/>
              <a:t>명</a:t>
            </a:r>
            <a:r>
              <a:rPr lang="en-US" altLang="ko-KR"/>
              <a:t>)</a:t>
            </a:r>
            <a:r>
              <a:rPr lang="ko-KR" altLang="en-US"/>
              <a:t>로 구성되며</a:t>
            </a:r>
            <a:r>
              <a:rPr lang="en-US" altLang="ko-KR"/>
              <a:t>, </a:t>
            </a:r>
            <a:r>
              <a:rPr lang="ko-KR" altLang="en-US"/>
              <a:t>성별과 나이가 균형</a:t>
            </a:r>
            <a:r>
              <a:rPr lang="en-US" altLang="ko-KR"/>
              <a:t>(age/sex-matched) </a:t>
            </a:r>
            <a:r>
              <a:rPr lang="ko-KR" altLang="en-US"/>
              <a:t>잡혀 있습니다</a:t>
            </a:r>
            <a:r>
              <a:rPr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공개적으로 제공되는 ‘</a:t>
            </a:r>
            <a:r>
              <a:rPr lang="en-US" altLang="ko-KR"/>
              <a:t>Train(=</a:t>
            </a:r>
            <a:r>
              <a:rPr lang="ko-KR" altLang="en-US"/>
              <a:t>개발</a:t>
            </a:r>
            <a:r>
              <a:rPr lang="en-US" altLang="ko-KR"/>
              <a:t>)’ </a:t>
            </a:r>
            <a:r>
              <a:rPr lang="ko-KR" altLang="en-US"/>
              <a:t>세트와 ‘</a:t>
            </a:r>
            <a:r>
              <a:rPr lang="en-US" altLang="ko-KR"/>
              <a:t>Test(=</a:t>
            </a:r>
            <a:r>
              <a:rPr lang="ko-KR" altLang="en-US"/>
              <a:t>평가</a:t>
            </a:r>
            <a:r>
              <a:rPr lang="en-US" altLang="ko-KR"/>
              <a:t>)’ </a:t>
            </a:r>
            <a:r>
              <a:rPr lang="ko-KR" altLang="en-US"/>
              <a:t>세트로 분할되어 있습니다</a:t>
            </a:r>
            <a:r>
              <a:rPr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/>
              <a:t>MMSE </a:t>
            </a:r>
            <a:r>
              <a:rPr lang="ko-KR" altLang="en-US" b="1"/>
              <a:t>점수</a:t>
            </a:r>
            <a:r>
              <a:rPr lang="ko-KR" altLang="en-US"/>
              <a:t>도 제공되는데</a:t>
            </a:r>
            <a:r>
              <a:rPr lang="en-US" altLang="ko-KR"/>
              <a:t>, Train </a:t>
            </a:r>
            <a:r>
              <a:rPr lang="ko-KR" altLang="en-US"/>
              <a:t>세트의 대부분 참가자에 대해 제공되고</a:t>
            </a:r>
            <a:r>
              <a:rPr lang="en-US" altLang="ko-KR"/>
              <a:t>(Test </a:t>
            </a:r>
            <a:r>
              <a:rPr lang="ko-KR" altLang="en-US"/>
              <a:t>세트에도 점수 있음</a:t>
            </a:r>
            <a:r>
              <a:rPr lang="en-US" altLang="ko-KR"/>
              <a:t>), </a:t>
            </a:r>
            <a:r>
              <a:rPr lang="ko-KR" altLang="en-US"/>
              <a:t>한 명 정도만 누락되어 있습니다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146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BC4E001-70DA-FA7C-981F-80D7FEC9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B7508494-514C-A504-3D71-C85782CE3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C3D42101-5B75-F220-ADE9-DDD64BA1A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b="1"/>
              <a:t>어휘</a:t>
            </a:r>
            <a:r>
              <a:rPr lang="en-US" altLang="ko-KR" b="1"/>
              <a:t>-</a:t>
            </a:r>
            <a:r>
              <a:rPr lang="ko-KR" altLang="en-US" b="1"/>
              <a:t>통사</a:t>
            </a:r>
            <a:r>
              <a:rPr lang="en-US" altLang="ko-KR" b="1"/>
              <a:t>(Lexico-syntactic) </a:t>
            </a:r>
            <a:r>
              <a:rPr lang="ko-KR" altLang="en-US" b="1"/>
              <a:t>특징 </a:t>
            </a:r>
            <a:r>
              <a:rPr lang="en-US" altLang="ko-KR" b="1"/>
              <a:t>(297</a:t>
            </a:r>
            <a:r>
              <a:rPr lang="ko-KR" altLang="en-US" b="1"/>
              <a:t>개</a:t>
            </a:r>
            <a:r>
              <a:rPr lang="en-US" altLang="ko-KR" b="1"/>
              <a:t>)</a:t>
            </a:r>
            <a:endParaRPr lang="ko-KR" altLang="en-US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문장 구문 트리</a:t>
            </a:r>
            <a:r>
              <a:rPr lang="en-US" altLang="ko-KR"/>
              <a:t>(constituency parse tree)</a:t>
            </a:r>
            <a:r>
              <a:rPr lang="ko-KR" altLang="en-US"/>
              <a:t>에서 특정 </a:t>
            </a:r>
            <a:r>
              <a:rPr lang="ko-KR" altLang="en-US" b="1"/>
              <a:t>생성 규칙</a:t>
            </a:r>
            <a:r>
              <a:rPr lang="en-US" altLang="ko-KR" b="1"/>
              <a:t>(Production rule)</a:t>
            </a:r>
            <a:r>
              <a:rPr lang="ko-KR" altLang="en-US" b="1"/>
              <a:t>의 등장 빈도</a:t>
            </a:r>
            <a:endParaRPr lang="ko-KR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Speech graph</a:t>
            </a:r>
            <a:r>
              <a:rPr lang="ko-KR" altLang="en-US"/>
              <a:t> 기반 밀도</a:t>
            </a:r>
            <a:r>
              <a:rPr lang="en-US" altLang="ko-KR"/>
              <a:t>(density) </a:t>
            </a:r>
            <a:r>
              <a:rPr lang="ko-KR" altLang="en-US"/>
              <a:t>등 그래프 지표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어휘 친숙도</a:t>
            </a:r>
            <a:r>
              <a:rPr lang="en-US" altLang="ko-KR"/>
              <a:t>(familiarity), </a:t>
            </a:r>
            <a:r>
              <a:rPr lang="ko-KR" altLang="en-US"/>
              <a:t>이미지화 가능성</a:t>
            </a:r>
            <a:r>
              <a:rPr lang="en-US" altLang="ko-KR"/>
              <a:t>(imageability) </a:t>
            </a:r>
            <a:r>
              <a:rPr lang="ko-KR" altLang="en-US"/>
              <a:t>등 </a:t>
            </a:r>
            <a:r>
              <a:rPr lang="en-US" altLang="ko-KR" b="1"/>
              <a:t>Lexical norm</a:t>
            </a:r>
            <a:r>
              <a:rPr lang="ko-KR" altLang="en-US"/>
              <a:t> 지표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품사 비율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대명사 비율</a:t>
            </a:r>
            <a:r>
              <a:rPr lang="en-US" altLang="ko-KR"/>
              <a:t>, </a:t>
            </a:r>
            <a:r>
              <a:rPr lang="ko-KR" altLang="en-US"/>
              <a:t>동사 비율 등</a:t>
            </a:r>
            <a:r>
              <a:rPr lang="en-US" altLang="ko-KR"/>
              <a:t>), </a:t>
            </a:r>
            <a:r>
              <a:rPr lang="ko-KR" altLang="en-US"/>
              <a:t>어휘 풍부도</a:t>
            </a:r>
            <a:r>
              <a:rPr lang="en-US" altLang="ko-KR"/>
              <a:t>(TTR </a:t>
            </a:r>
            <a:r>
              <a:rPr lang="ko-KR" altLang="en-US"/>
              <a:t>등</a:t>
            </a:r>
            <a:r>
              <a:rPr lang="en-US" altLang="ko-KR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연속 발화 간 </a:t>
            </a:r>
            <a:r>
              <a:rPr lang="ko-KR" altLang="en-US" b="1"/>
              <a:t>코사인 유사도</a:t>
            </a:r>
            <a:r>
              <a:rPr lang="ko-KR" altLang="en-US"/>
              <a:t> 등</a:t>
            </a:r>
          </a:p>
        </p:txBody>
      </p:sp>
    </p:spTree>
    <p:extLst>
      <p:ext uri="{BB962C8B-B14F-4D97-AF65-F5344CB8AC3E}">
        <p14:creationId xmlns:p14="http://schemas.microsoft.com/office/powerpoint/2010/main" val="635474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1870081-6A99-6C5D-F708-5FDAD8BE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CDFBDB48-9274-634A-BAB7-CC3BE5812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1F2AA39D-88CE-875C-4E9A-3B54CB7F1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3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C5E0BEA-8FAF-2C69-B2B8-86947F8E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8C446E8B-845E-89E5-8C12-7477ADA96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C68B5F7F-A858-62AD-2A5E-DB1E14B14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**</a:t>
            </a:r>
            <a:r>
              <a:rPr lang="en-US" altLang="ko-KR"/>
              <a:t>MFCC(Mel-frequency cepstral coefficients)**</a:t>
            </a:r>
            <a:r>
              <a:rPr lang="ko-KR" altLang="en-US"/>
              <a:t>의 평균</a:t>
            </a:r>
            <a:r>
              <a:rPr lang="en-US" altLang="ko-KR"/>
              <a:t>, </a:t>
            </a:r>
            <a:r>
              <a:rPr lang="ko-KR" altLang="en-US"/>
              <a:t>분산</a:t>
            </a:r>
            <a:r>
              <a:rPr lang="en-US" altLang="ko-KR"/>
              <a:t>, </a:t>
            </a:r>
            <a:r>
              <a:rPr lang="ko-KR" altLang="en-US"/>
              <a:t>왜도</a:t>
            </a:r>
            <a:r>
              <a:rPr lang="en-US" altLang="ko-KR"/>
              <a:t>(skewness), </a:t>
            </a:r>
            <a:r>
              <a:rPr lang="ko-KR" altLang="en-US"/>
              <a:t>첨도</a:t>
            </a:r>
            <a:r>
              <a:rPr lang="en-US" altLang="ko-KR"/>
              <a:t>(kurtosis) </a:t>
            </a:r>
            <a:r>
              <a:rPr lang="ko-KR" altLang="en-US"/>
              <a:t>등</a:t>
            </a:r>
            <a:endParaRPr lang="en-US" altLang="ko-K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**기초 주파수</a:t>
            </a:r>
            <a:r>
              <a:rPr lang="en-US" altLang="ko-KR"/>
              <a:t>(F0)**</a:t>
            </a:r>
            <a:r>
              <a:rPr lang="ko-KR" altLang="en-US"/>
              <a:t>의 최소값</a:t>
            </a:r>
            <a:r>
              <a:rPr lang="en-US" altLang="ko-KR"/>
              <a:t>, </a:t>
            </a:r>
            <a:r>
              <a:rPr lang="ko-KR" altLang="en-US"/>
              <a:t>최대값</a:t>
            </a:r>
            <a:r>
              <a:rPr lang="en-US" altLang="ko-KR"/>
              <a:t>, </a:t>
            </a:r>
            <a:r>
              <a:rPr lang="ko-KR" altLang="en-US"/>
              <a:t>평균값</a:t>
            </a:r>
            <a:endParaRPr lang="en-US" altLang="ko-K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긴 침묵</a:t>
            </a:r>
            <a:r>
              <a:rPr lang="en-US" altLang="ko-KR"/>
              <a:t>, </a:t>
            </a:r>
            <a:r>
              <a:rPr lang="ko-KR" altLang="en-US"/>
              <a:t>짧은 침묵</a:t>
            </a:r>
            <a:r>
              <a:rPr lang="en-US" altLang="ko-KR"/>
              <a:t>, </a:t>
            </a:r>
            <a:r>
              <a:rPr lang="ko-KR" altLang="en-US"/>
              <a:t>침묵 비율 등 </a:t>
            </a:r>
            <a:r>
              <a:rPr lang="en-US" altLang="ko-KR" b="1"/>
              <a:t>Pause </a:t>
            </a:r>
            <a:r>
              <a:rPr lang="ko-KR" altLang="en-US" b="1"/>
              <a:t>관련 지표</a:t>
            </a:r>
            <a:endParaRPr lang="en-US" altLang="ko-KR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b="1"/>
              <a:t>Zero-crossing rate</a:t>
            </a:r>
            <a:r>
              <a:rPr lang="ko-KR" altLang="en-US"/>
              <a:t>의 통계치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7251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DB815CF-BC1A-BE91-F1ED-F37FA46EC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6FAF7038-3318-AFCD-03DA-F8A4B0F4A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1A770E4D-A190-4A8C-8887-9D8D7C7CD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“</a:t>
            </a:r>
            <a:r>
              <a:rPr lang="en-US" altLang="ko-KR"/>
              <a:t>Cookie Theft” </a:t>
            </a:r>
            <a:r>
              <a:rPr lang="ko-KR" altLang="en-US"/>
              <a:t>그림에 등장하는 </a:t>
            </a:r>
            <a:r>
              <a:rPr lang="ko-KR" altLang="en-US" b="1"/>
              <a:t>핵심 정보 단위</a:t>
            </a:r>
            <a:r>
              <a:rPr lang="en-US" altLang="ko-KR" b="1"/>
              <a:t>(content unit)</a:t>
            </a:r>
            <a:r>
              <a:rPr lang="ko-KR" altLang="en-US" b="1"/>
              <a:t>을 얼마나 잘 언급</a:t>
            </a:r>
            <a:r>
              <a:rPr lang="ko-KR" altLang="en-US"/>
              <a:t>했는지의 비율</a:t>
            </a:r>
            <a:endParaRPr lang="en-US" altLang="ko-K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각 발화를 임베딩한 뒤</a:t>
            </a:r>
            <a:r>
              <a:rPr lang="en-US" altLang="ko-KR"/>
              <a:t>, </a:t>
            </a:r>
            <a:r>
              <a:rPr lang="ko-KR" altLang="en-US"/>
              <a:t>그림 관련 핵심 단어</a:t>
            </a:r>
            <a:r>
              <a:rPr lang="en-US" altLang="ko-KR"/>
              <a:t>(“cookie”, “sink” </a:t>
            </a:r>
            <a:r>
              <a:rPr lang="ko-KR" altLang="en-US"/>
              <a:t>등</a:t>
            </a:r>
            <a:r>
              <a:rPr lang="en-US" altLang="ko-KR"/>
              <a:t>)</a:t>
            </a:r>
            <a:r>
              <a:rPr lang="ko-KR" altLang="en-US"/>
              <a:t>의 임베딩과 평균 거리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79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8EB8BDF-CFDE-A536-124D-ADC318CE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B0B72159-8652-33FA-2CD0-98A488094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A386FF4C-56A2-62C8-5F20-65C024C1B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360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EAE70B8-5433-2C41-E7E5-E467C94FB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CF070825-4581-4307-D277-37D8C2960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6DB135FC-39AC-9046-0F73-9B4D746A2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356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177A5C7-543D-996D-A45F-14562A4C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AA5CCFC7-A1C2-AE71-20E3-DBB7D05F3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D1CF50EE-78D5-73F9-B8B1-7C88ED585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814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4FA01CF-EA89-A69C-77C9-B4D4DAC2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0342F85F-258E-59BC-DC4E-A672BA4EA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1E418BB0-3C39-5D56-C83C-D3E2FBEF8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3199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F85A8A6-5AE6-CDDD-AFD8-F8BF00C2E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DF8DEBA4-B271-29B1-82A9-B2BBBB6E6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BF322D9F-FDD6-B0F7-57EE-FC8D8251D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91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1257F44-8D6B-BB57-D159-96C1C2C8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E85A841A-6596-B55B-00FB-9771FDC7E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FBA9741D-9BF8-EBEC-3922-97C0D3D98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965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6F774E9-90C7-27D0-275E-43E9C9F7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A13AC785-6239-7842-66FA-4BC2D17AE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22B676A3-BA71-910D-F533-22C6A35F6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최근 인공지능</a:t>
            </a:r>
            <a:r>
              <a:rPr lang="en-US" altLang="ko-KR"/>
              <a:t>(AI), </a:t>
            </a:r>
            <a:r>
              <a:rPr lang="ko-KR" altLang="en-US"/>
              <a:t>특히 대규모 언어 모델</a:t>
            </a:r>
            <a:r>
              <a:rPr lang="en-US" altLang="ko-KR"/>
              <a:t>(Large Language Models, LLMs)</a:t>
            </a:r>
            <a:r>
              <a:rPr lang="ko-KR" altLang="en-US"/>
              <a:t>이 다양한 자연어 처리</a:t>
            </a:r>
            <a:r>
              <a:rPr lang="en-US" altLang="ko-KR"/>
              <a:t>(NLP) </a:t>
            </a:r>
            <a:r>
              <a:rPr lang="ko-KR" altLang="en-US"/>
              <a:t>분야에서 혁신적인 성능을 보이고 있습니다</a:t>
            </a:r>
            <a:r>
              <a:rPr lang="en-US" altLang="ko-KR"/>
              <a:t>. </a:t>
            </a:r>
            <a:r>
              <a:rPr lang="ko-KR" altLang="en-US"/>
              <a:t>이 연구는 그러한 </a:t>
            </a:r>
            <a:r>
              <a:rPr lang="en-US" altLang="ko-KR"/>
              <a:t>LLM</a:t>
            </a:r>
            <a:r>
              <a:rPr lang="ko-KR" altLang="en-US"/>
              <a:t>이 실제 전자의무기록</a:t>
            </a:r>
            <a:r>
              <a:rPr lang="en-US" altLang="ko-KR"/>
              <a:t>(EHR) </a:t>
            </a:r>
            <a:r>
              <a:rPr lang="ko-KR" altLang="en-US"/>
              <a:t>임상 노트에서 노인 인지 저하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주관적 인지 저하</a:t>
            </a:r>
            <a:r>
              <a:rPr lang="en-US" altLang="ko-KR"/>
              <a:t>, </a:t>
            </a:r>
            <a:r>
              <a:rPr lang="ko-KR" altLang="en-US"/>
              <a:t>경도인지장애</a:t>
            </a:r>
            <a:r>
              <a:rPr lang="en-US" altLang="ko-KR"/>
              <a:t>, </a:t>
            </a:r>
            <a:r>
              <a:rPr lang="ko-KR" altLang="en-US"/>
              <a:t>치매 징후</a:t>
            </a:r>
            <a:r>
              <a:rPr lang="en-US" altLang="ko-KR"/>
              <a:t>)</a:t>
            </a:r>
            <a:r>
              <a:rPr lang="ko-KR" altLang="en-US"/>
              <a:t>를 얼마나 효과적으로 식별할 수 있는지를 평가하고자 수행되었습니다</a:t>
            </a:r>
            <a:r>
              <a:rPr lang="en-US" altLang="ko-KR"/>
              <a:t>. </a:t>
            </a:r>
            <a:r>
              <a:rPr lang="ko-KR" altLang="en-US"/>
              <a:t>특정 질환</a:t>
            </a:r>
            <a:r>
              <a:rPr lang="en-US" altLang="ko-KR"/>
              <a:t>(</a:t>
            </a:r>
            <a:r>
              <a:rPr lang="ko-KR" altLang="en-US"/>
              <a:t>인지 저하</a:t>
            </a:r>
            <a:r>
              <a:rPr lang="en-US" altLang="ko-KR"/>
              <a:t>)</a:t>
            </a:r>
            <a:r>
              <a:rPr lang="ko-KR" altLang="en-US"/>
              <a:t>을 타깃으로 </a:t>
            </a:r>
            <a:r>
              <a:rPr lang="en-US" altLang="ko-KR"/>
              <a:t>LLM</a:t>
            </a:r>
            <a:r>
              <a:rPr lang="ko-KR" altLang="en-US"/>
              <a:t>을 적용했을 때와 기존 딥러닝</a:t>
            </a:r>
            <a:r>
              <a:rPr lang="en-US" altLang="ko-KR"/>
              <a:t>, </a:t>
            </a:r>
            <a:r>
              <a:rPr lang="ko-KR" altLang="en-US"/>
              <a:t>전통적 머신러닝 모델과 성능이 어떻게 비교되는지를 분석하고</a:t>
            </a:r>
            <a:r>
              <a:rPr lang="en-US" altLang="ko-KR"/>
              <a:t>, </a:t>
            </a:r>
            <a:r>
              <a:rPr lang="ko-KR" altLang="en-US"/>
              <a:t>최종적으로 여러 모델의 결과를 결합</a:t>
            </a:r>
            <a:r>
              <a:rPr lang="en-US" altLang="ko-KR"/>
              <a:t>(</a:t>
            </a:r>
            <a:r>
              <a:rPr lang="ko-KR" altLang="en-US"/>
              <a:t>앙상블</a:t>
            </a:r>
            <a:r>
              <a:rPr lang="en-US" altLang="ko-KR"/>
              <a:t>)</a:t>
            </a:r>
            <a:r>
              <a:rPr lang="ko-KR" altLang="en-US"/>
              <a:t>해 성능을 높일 수 있는지 확인하는 데 초점을 두었습니다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883375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8EE5F35-7C78-89FD-77A0-BD0230F0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4112D237-EDDD-B71E-8F20-3980AAB0E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5FBD395F-FC63-8417-4932-E556649DE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/>
              <a:t>매사추세츠의 대형 의료기관</a:t>
            </a:r>
            <a:r>
              <a:rPr lang="en-US" altLang="ko-KR"/>
              <a:t>(Mass General Brigham, MGB)</a:t>
            </a:r>
            <a:r>
              <a:rPr lang="ko-KR" altLang="en-US"/>
              <a:t>에서 경도인지장애</a:t>
            </a:r>
            <a:r>
              <a:rPr lang="en-US" altLang="ko-KR"/>
              <a:t>(MCI, ICD-10-CM G31.84)</a:t>
            </a:r>
            <a:r>
              <a:rPr lang="ko-KR" altLang="en-US"/>
              <a:t>로 진단받은 </a:t>
            </a:r>
            <a:r>
              <a:rPr lang="en-US" altLang="ko-KR"/>
              <a:t>50</a:t>
            </a:r>
            <a:r>
              <a:rPr lang="ko-KR" altLang="en-US"/>
              <a:t>세 이상 환자들의 임상 노트 섹션을 수집했습니다</a:t>
            </a:r>
            <a:r>
              <a:rPr lang="en-US" altLang="ko-KR"/>
              <a:t>. </a:t>
            </a:r>
            <a:r>
              <a:rPr lang="ko-KR" altLang="en-US"/>
              <a:t>이 노트들은 진단 시점으로부터 최대 </a:t>
            </a:r>
            <a:r>
              <a:rPr lang="en-US" altLang="ko-KR"/>
              <a:t>4</a:t>
            </a:r>
            <a:r>
              <a:rPr lang="ko-KR" altLang="en-US"/>
              <a:t>년 전까지 거슬러 올라가 확보되었습니다</a:t>
            </a:r>
            <a:r>
              <a:rPr lang="en-US" altLang="ko-KR"/>
              <a:t>. </a:t>
            </a:r>
            <a:r>
              <a:rPr lang="ko-KR" altLang="en-US"/>
              <a:t>주석</a:t>
            </a:r>
            <a:r>
              <a:rPr lang="en-US" altLang="ko-KR"/>
              <a:t>(Annotation)</a:t>
            </a:r>
            <a:r>
              <a:rPr lang="ko-KR" altLang="en-US"/>
              <a:t>은 전문 교육을 받은 라벨러가 해당 노트 섹션에 인지 저하가 언급되어 있는지</a:t>
            </a:r>
            <a:r>
              <a:rPr lang="en-US" altLang="ko-KR"/>
              <a:t>(</a:t>
            </a:r>
            <a:r>
              <a:rPr lang="ko-KR" altLang="en-US"/>
              <a:t>양성</a:t>
            </a:r>
            <a:r>
              <a:rPr lang="en-US" altLang="ko-KR"/>
              <a:t>) </a:t>
            </a:r>
            <a:r>
              <a:rPr lang="ko-KR" altLang="en-US"/>
              <a:t>여부를 판별하여 라벨을 달았습니다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수집된 데이터는 크게 두 그룹으로 나뉩니다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b="1"/>
              <a:t>Dataset I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총 </a:t>
            </a:r>
            <a:r>
              <a:rPr lang="en-US" altLang="ko-KR"/>
              <a:t>4,949</a:t>
            </a:r>
            <a:r>
              <a:rPr lang="ko-KR" altLang="en-US"/>
              <a:t>개 노트 섹션</a:t>
            </a:r>
            <a:r>
              <a:rPr lang="en-US" altLang="ko-KR"/>
              <a:t>): </a:t>
            </a:r>
            <a:r>
              <a:rPr lang="ko-KR" altLang="en-US"/>
              <a:t>사전에 전문가가 선정한 인지기능 관련 키워드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“memory,” “cognit,” “dementia”)</a:t>
            </a:r>
            <a:r>
              <a:rPr lang="ko-KR" altLang="en-US"/>
              <a:t>를 통해 필터링하여 인지 저하가 언급될 가능성이 높은 섹션들만 추출했습니다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b="1"/>
              <a:t>Dataset II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총 </a:t>
            </a:r>
            <a:r>
              <a:rPr lang="en-US" altLang="ko-KR"/>
              <a:t>1,996</a:t>
            </a:r>
            <a:r>
              <a:rPr lang="ko-KR" altLang="en-US"/>
              <a:t>개 노트 섹션</a:t>
            </a:r>
            <a:r>
              <a:rPr lang="en-US" altLang="ko-KR"/>
              <a:t>): </a:t>
            </a:r>
            <a:r>
              <a:rPr lang="ko-KR" altLang="en-US"/>
              <a:t>키워드 필터 없이 무작위로 선별된 섹션으로</a:t>
            </a:r>
            <a:r>
              <a:rPr lang="en-US" altLang="ko-KR"/>
              <a:t>, </a:t>
            </a:r>
            <a:r>
              <a:rPr lang="ko-KR" altLang="en-US"/>
              <a:t>더욱 일반화된 상황에서 모델을 평가하기 위한 테스트 세트로 사용했습니다</a:t>
            </a:r>
            <a:r>
              <a:rPr lang="en-US" altLang="ko-KR"/>
              <a:t>.</a:t>
            </a:r>
          </a:p>
          <a:p>
            <a:r>
              <a:rPr lang="ko-KR" altLang="en-US"/>
              <a:t>이 중 </a:t>
            </a:r>
            <a:r>
              <a:rPr lang="en-US" altLang="ko-KR"/>
              <a:t>Dataset I </a:t>
            </a:r>
            <a:r>
              <a:rPr lang="ko-KR" altLang="en-US"/>
              <a:t>내의 </a:t>
            </a:r>
            <a:r>
              <a:rPr lang="en-US" altLang="ko-KR"/>
              <a:t>200</a:t>
            </a:r>
            <a:r>
              <a:rPr lang="ko-KR" altLang="en-US"/>
              <a:t>개 샘플</a:t>
            </a:r>
            <a:r>
              <a:rPr lang="en-US" altLang="ko-KR"/>
              <a:t>(I–S)</a:t>
            </a:r>
            <a:r>
              <a:rPr lang="ko-KR" altLang="en-US"/>
              <a:t>은 </a:t>
            </a:r>
            <a:r>
              <a:rPr lang="en-US" altLang="ko-KR"/>
              <a:t>LLM </a:t>
            </a:r>
            <a:r>
              <a:rPr lang="ko-KR" altLang="en-US"/>
              <a:t>프롬프트 설계 및 비교용으로</a:t>
            </a:r>
            <a:r>
              <a:rPr lang="en-US" altLang="ko-KR"/>
              <a:t>, </a:t>
            </a:r>
            <a:r>
              <a:rPr lang="ko-KR" altLang="en-US"/>
              <a:t>나머지</a:t>
            </a:r>
            <a:r>
              <a:rPr lang="en-US" altLang="ko-KR"/>
              <a:t>(I–A)</a:t>
            </a:r>
            <a:r>
              <a:rPr lang="ko-KR" altLang="en-US"/>
              <a:t>는 전통적인 모델 훈련 혹은 프롬프트 예시 선택 등에 활용했습니다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390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D2CD4A5-B969-1412-74DE-385BFEA6B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8E59D63A-4633-8622-72D5-D5B129521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4A6E314D-3538-7435-35F5-5CE54588E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b="1"/>
              <a:t>전통적 머신러닝 및 딥러닝 모델</a:t>
            </a:r>
          </a:p>
          <a:p>
            <a:r>
              <a:rPr lang="ko-KR" altLang="en-US"/>
              <a:t>비교를 위해 두 가지 기본 모델을 사용했습니다</a:t>
            </a:r>
            <a:r>
              <a:rPr lang="en-US" altLang="ko-KR"/>
              <a:t>: XGBoost</a:t>
            </a:r>
            <a:r>
              <a:rPr lang="ko-KR" altLang="en-US"/>
              <a:t>와 </a:t>
            </a:r>
            <a:r>
              <a:rPr lang="en-US" altLang="ko-KR"/>
              <a:t>Attention </a:t>
            </a:r>
            <a:r>
              <a:rPr lang="ko-KR" altLang="en-US"/>
              <a:t>기반 </a:t>
            </a:r>
            <a:r>
              <a:rPr lang="en-US" altLang="ko-KR"/>
              <a:t>DNN.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XGBoost</a:t>
            </a:r>
            <a:r>
              <a:rPr lang="en-US" altLang="ko-KR"/>
              <a:t>: </a:t>
            </a:r>
            <a:r>
              <a:rPr lang="ko-KR" altLang="en-US"/>
              <a:t>임상 노트에서 추출한 </a:t>
            </a:r>
            <a:r>
              <a:rPr lang="en-US" altLang="ko-KR"/>
              <a:t>TF-IDF </a:t>
            </a:r>
            <a:r>
              <a:rPr lang="ko-KR" altLang="en-US"/>
              <a:t>등 구조화된 특성을 입력으로 사용하는 그래디언트 부스팅 기반 의사결정트리 모델입니다</a:t>
            </a:r>
            <a:r>
              <a:rPr lang="en-US" altLang="ko-KR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Attention </a:t>
            </a:r>
            <a:r>
              <a:rPr lang="ko-KR" altLang="en-US" b="1"/>
              <a:t>기반 </a:t>
            </a:r>
            <a:r>
              <a:rPr lang="en-US" altLang="ko-KR" b="1"/>
              <a:t>DNN</a:t>
            </a:r>
            <a:r>
              <a:rPr lang="en-US" altLang="ko-KR"/>
              <a:t>: 4</a:t>
            </a:r>
            <a:r>
              <a:rPr lang="ko-KR" altLang="en-US"/>
              <a:t> </a:t>
            </a:r>
            <a:r>
              <a:rPr lang="en-US" altLang="ko-KR"/>
              <a:t>layer</a:t>
            </a:r>
            <a:r>
              <a:rPr lang="ko-KR" altLang="en-US"/>
              <a:t>로 구성된 딥러닝 네트워크로서</a:t>
            </a:r>
            <a:r>
              <a:rPr lang="en-US" altLang="ko-KR"/>
              <a:t>, (1) CNN</a:t>
            </a:r>
            <a:r>
              <a:rPr lang="ko-KR" altLang="en-US"/>
              <a:t>을 사용해 국소적 텍스트 특징을 추출하고</a:t>
            </a:r>
            <a:r>
              <a:rPr lang="en-US" altLang="ko-KR"/>
              <a:t>, (2) </a:t>
            </a:r>
            <a:r>
              <a:rPr lang="ko-KR" altLang="en-US"/>
              <a:t>양방향 </a:t>
            </a:r>
            <a:r>
              <a:rPr lang="en-US" altLang="ko-KR"/>
              <a:t>LSTM</a:t>
            </a:r>
            <a:r>
              <a:rPr lang="ko-KR" altLang="en-US"/>
              <a:t>으로 문맥 정보를 인코딩한 뒤</a:t>
            </a:r>
            <a:r>
              <a:rPr lang="en-US" altLang="ko-KR"/>
              <a:t>, (3) Attention </a:t>
            </a:r>
            <a:r>
              <a:rPr lang="ko-KR" altLang="en-US"/>
              <a:t>메커니즘을 통해 중요한 단어나 문맥에 가중치를 더 크게 부여합니다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68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D593920-6E85-6E8B-0DE3-05D7877B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DBC762E5-7B13-C1CF-F6FD-F6B4D29C5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FA3B964B-8062-7CDD-36CA-FB9A1210E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b="1"/>
              <a:t>GPT-4 (OpenAI)</a:t>
            </a:r>
            <a:r>
              <a:rPr lang="en-US" altLang="ko-KR"/>
              <a:t>: Microsoft Azure</a:t>
            </a:r>
            <a:r>
              <a:rPr lang="ko-KR" altLang="en-US"/>
              <a:t>의 </a:t>
            </a:r>
            <a:r>
              <a:rPr lang="en-US" altLang="ko-KR"/>
              <a:t>HIPAA </a:t>
            </a:r>
            <a:r>
              <a:rPr lang="ko-KR" altLang="en-US"/>
              <a:t>준수 환경에서 접근하여 사용했습니다</a:t>
            </a:r>
            <a:r>
              <a:rPr lang="en-US" altLang="ko-KR"/>
              <a:t>. Zero-shot, Few-shot, Retrieval-Augmented Generation, Error-Analysis Instructions </a:t>
            </a:r>
            <a:r>
              <a:rPr lang="ko-KR" altLang="en-US"/>
              <a:t>등 다양한 프롬프트 기법을 적용했으며</a:t>
            </a:r>
            <a:r>
              <a:rPr lang="en-US" altLang="ko-KR"/>
              <a:t>, </a:t>
            </a:r>
            <a:r>
              <a:rPr lang="ko-KR" altLang="en-US"/>
              <a:t>그중 오류 분석 기반 지시사항을 추가했을 때 가장 좋은 성능을 보였습니다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b="1"/>
              <a:t>Llama 2 (Meta)</a:t>
            </a:r>
            <a:r>
              <a:rPr lang="en-US" altLang="ko-KR"/>
              <a:t>: </a:t>
            </a:r>
            <a:r>
              <a:rPr lang="ko-KR" altLang="en-US"/>
              <a:t>오픈소스 </a:t>
            </a:r>
            <a:r>
              <a:rPr lang="en-US" altLang="ko-KR"/>
              <a:t>13B </a:t>
            </a:r>
            <a:r>
              <a:rPr lang="ko-KR" altLang="en-US"/>
              <a:t>파라미터 모델로 </a:t>
            </a:r>
            <a:r>
              <a:rPr lang="en-US" altLang="ko-KR"/>
              <a:t>Amazon EC2</a:t>
            </a:r>
            <a:r>
              <a:rPr lang="ko-KR" altLang="en-US"/>
              <a:t>에서 테스트했으나</a:t>
            </a:r>
            <a:r>
              <a:rPr lang="en-US" altLang="ko-KR"/>
              <a:t>, GPT-4 </a:t>
            </a:r>
            <a:r>
              <a:rPr lang="ko-KR" altLang="en-US"/>
              <a:t>대비 정확도와 </a:t>
            </a:r>
            <a:r>
              <a:rPr lang="en-US" altLang="ko-KR"/>
              <a:t>JSON </a:t>
            </a:r>
            <a:r>
              <a:rPr lang="ko-KR" altLang="en-US"/>
              <a:t>형식 출력 일관성이 떨어졌습니다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350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E8D493D-3A96-A170-F4DD-60B44F23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7E4B6671-766E-3212-EB29-0D479580EE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32705346-684A-F384-9793-BBB0F25CE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ko-KR" b="1"/>
              <a:t>LLM Selection (</a:t>
            </a:r>
            <a:r>
              <a:rPr lang="ko-KR" altLang="en-US" b="1"/>
              <a:t>대규모 언어 모델 선정</a:t>
            </a:r>
            <a:r>
              <a:rPr lang="en-US" altLang="ko-KR" b="1"/>
              <a:t>)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모델 후보 결정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연구진은 대규모 언어 모델</a:t>
            </a:r>
            <a:r>
              <a:rPr lang="en-US" altLang="ko-KR"/>
              <a:t>(Large Language Model)</a:t>
            </a:r>
            <a:r>
              <a:rPr lang="ko-KR" altLang="en-US"/>
              <a:t>로 </a:t>
            </a:r>
            <a:r>
              <a:rPr lang="en-US" altLang="ko-KR" b="1"/>
              <a:t>GPT-4</a:t>
            </a:r>
            <a:r>
              <a:rPr lang="ko-KR" altLang="en-US"/>
              <a:t>와 </a:t>
            </a:r>
            <a:r>
              <a:rPr lang="en-US" altLang="ko-KR" b="1"/>
              <a:t>Llama 2</a:t>
            </a:r>
            <a:r>
              <a:rPr lang="ko-KR" altLang="en-US"/>
              <a:t>를 비교함</a:t>
            </a:r>
            <a:r>
              <a:rPr lang="en-US" altLang="ko-KR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각각 동일한 작업 지시</a:t>
            </a:r>
            <a:r>
              <a:rPr lang="en-US" altLang="ko-KR"/>
              <a:t>(prompt </a:t>
            </a:r>
            <a:r>
              <a:rPr lang="ko-KR" altLang="en-US"/>
              <a:t>템플릿</a:t>
            </a:r>
            <a:r>
              <a:rPr lang="en-US" altLang="ko-KR"/>
              <a:t>)</a:t>
            </a:r>
            <a:r>
              <a:rPr lang="ko-KR" altLang="en-US"/>
              <a:t>를 주었을 때</a:t>
            </a:r>
            <a:r>
              <a:rPr lang="en-US" altLang="ko-KR"/>
              <a:t>, </a:t>
            </a:r>
            <a:r>
              <a:rPr lang="ko-KR" altLang="en-US"/>
              <a:t>응답 형식</a:t>
            </a:r>
            <a:r>
              <a:rPr lang="en-US" altLang="ko-KR"/>
              <a:t>(JSON </a:t>
            </a:r>
            <a:r>
              <a:rPr lang="ko-KR" altLang="en-US"/>
              <a:t>출력 등</a:t>
            </a:r>
            <a:r>
              <a:rPr lang="en-US" altLang="ko-KR"/>
              <a:t>)</a:t>
            </a:r>
            <a:r>
              <a:rPr lang="ko-KR" altLang="en-US"/>
              <a:t>과 분류 정확도 등을 평가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프롬프트 템플릿 시도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TaskDescriptionTask DescriptionTaskDescription: “</a:t>
            </a:r>
            <a:r>
              <a:rPr lang="ko-KR" altLang="en-US"/>
              <a:t>임상 노트에서 인지 저하 여부를 분류하시오”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AdditionalGuidanceAdditional GuidanceAdditionalGuidance: JSON </a:t>
            </a:r>
            <a:r>
              <a:rPr lang="ko-KR" altLang="en-US"/>
              <a:t>형식 출력</a:t>
            </a:r>
            <a:r>
              <a:rPr lang="en-US" altLang="ko-KR"/>
              <a:t>, </a:t>
            </a:r>
            <a:r>
              <a:rPr lang="ko-KR" altLang="en-US"/>
              <a:t>판단 근거 키워드 명시</a:t>
            </a:r>
            <a:r>
              <a:rPr lang="en-US" altLang="ko-KR"/>
              <a:t>, </a:t>
            </a:r>
            <a:r>
              <a:rPr lang="ko-KR" altLang="en-US"/>
              <a:t>등등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여러 버전의 문장</a:t>
            </a:r>
            <a:r>
              <a:rPr lang="en-US" altLang="ko-KR"/>
              <a:t>(</a:t>
            </a:r>
            <a:r>
              <a:rPr lang="ko-KR" altLang="en-US"/>
              <a:t>템플릿</a:t>
            </a:r>
            <a:r>
              <a:rPr lang="en-US" altLang="ko-KR"/>
              <a:t>)</a:t>
            </a:r>
            <a:r>
              <a:rPr lang="ko-KR" altLang="en-US"/>
              <a:t>을 작성하고 </a:t>
            </a:r>
            <a:r>
              <a:rPr lang="en-US" altLang="ko-KR"/>
              <a:t>10</a:t>
            </a:r>
            <a:r>
              <a:rPr lang="ko-KR" altLang="en-US"/>
              <a:t>개의 샘플을 테스트해 </a:t>
            </a:r>
            <a:r>
              <a:rPr lang="ko-KR" altLang="en-US" b="1"/>
              <a:t>응답을 잘 준수</a:t>
            </a:r>
            <a:r>
              <a:rPr lang="ko-KR" altLang="en-US"/>
              <a:t>하고 </a:t>
            </a:r>
            <a:r>
              <a:rPr lang="ko-KR" altLang="en-US" b="1"/>
              <a:t>정확도</a:t>
            </a:r>
            <a:r>
              <a:rPr lang="ko-KR" altLang="en-US"/>
              <a:t>가 높은 템플릿을 찾음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b="1"/>
              <a:t>LLM </a:t>
            </a:r>
            <a:r>
              <a:rPr lang="ko-KR" altLang="en-US" b="1"/>
              <a:t>최종 선정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en-US" altLang="ko-KR" b="1"/>
              <a:t>GPT-4</a:t>
            </a:r>
            <a:r>
              <a:rPr lang="ko-KR" altLang="en-US"/>
              <a:t>가 </a:t>
            </a:r>
            <a:r>
              <a:rPr lang="en-US" altLang="ko-KR"/>
              <a:t>Llama 2</a:t>
            </a:r>
            <a:r>
              <a:rPr lang="ko-KR" altLang="en-US"/>
              <a:t>보다 일관된 </a:t>
            </a:r>
            <a:r>
              <a:rPr lang="en-US" altLang="ko-KR"/>
              <a:t>JSON </a:t>
            </a:r>
            <a:r>
              <a:rPr lang="ko-KR" altLang="en-US"/>
              <a:t>응답과 높은 정확도를 보여 최종적으로 채택</a:t>
            </a:r>
            <a:r>
              <a:rPr lang="en-US" altLang="ko-KR"/>
              <a:t>.</a:t>
            </a:r>
          </a:p>
          <a:p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 b="1"/>
              <a:t>구역 </a:t>
            </a:r>
            <a:r>
              <a:rPr lang="en-US" altLang="ko-KR" b="1"/>
              <a:t>A</a:t>
            </a:r>
            <a:r>
              <a:rPr lang="ko-KR" altLang="en-US"/>
              <a:t>에서는 </a:t>
            </a:r>
            <a:r>
              <a:rPr lang="ko-KR" altLang="en-US" b="1"/>
              <a:t>대규모 언어 모델 선정 및 초기 프롬프트 템플릿 결정</a:t>
            </a:r>
            <a:r>
              <a:rPr lang="ko-KR" altLang="en-US"/>
              <a:t>에 관한 과정이 이루어집니다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7848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D5DFF4D-D292-7C6B-F733-AD4AF35D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EFD60FF2-0FF4-5405-7CBD-6D1E1D6B6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4B5B18CD-B28F-C8C0-59D2-C0D088502C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ko-KR" b="1"/>
              <a:t>Prompt Improvement (</a:t>
            </a:r>
            <a:r>
              <a:rPr lang="ko-KR" altLang="en-US" b="1"/>
              <a:t>프롬프트 개선</a:t>
            </a:r>
            <a:r>
              <a:rPr lang="en-US" altLang="ko-KR" b="1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b="1"/>
              <a:t>Few-shot vs. Zero-shot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Zero-shot: </a:t>
            </a:r>
            <a:r>
              <a:rPr lang="ko-KR" altLang="en-US"/>
              <a:t>예시 없이 단순 지시만 제공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Few-shot: 5</a:t>
            </a:r>
            <a:r>
              <a:rPr lang="ko-KR" altLang="en-US"/>
              <a:t>개 정도의 예시</a:t>
            </a:r>
            <a:r>
              <a:rPr lang="en-US" altLang="ko-KR"/>
              <a:t>(positive/negative </a:t>
            </a:r>
            <a:r>
              <a:rPr lang="ko-KR" altLang="en-US"/>
              <a:t>케이스 등</a:t>
            </a:r>
            <a:r>
              <a:rPr lang="en-US" altLang="ko-KR"/>
              <a:t>)</a:t>
            </a:r>
            <a:r>
              <a:rPr lang="ko-KR" altLang="en-US"/>
              <a:t>를 프롬프트에 포함하여 모델이 판단 근거를 학습하도록 유도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b="1"/>
              <a:t>Retrieval Augmented Generation (RAG)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현재 처리 중인 임상 노트와 유사도가 높은 과거 예시</a:t>
            </a:r>
            <a:r>
              <a:rPr lang="en-US" altLang="ko-KR"/>
              <a:t>(KNN, </a:t>
            </a:r>
            <a:r>
              <a:rPr lang="ko-KR" altLang="en-US"/>
              <a:t>임베딩 기반</a:t>
            </a:r>
            <a:r>
              <a:rPr lang="en-US" altLang="ko-KR"/>
              <a:t>)</a:t>
            </a:r>
            <a:r>
              <a:rPr lang="ko-KR" altLang="en-US"/>
              <a:t>를 자동으로 찾아 </a:t>
            </a:r>
            <a:r>
              <a:rPr lang="en-US" altLang="ko-KR"/>
              <a:t>few-shot </a:t>
            </a:r>
            <a:r>
              <a:rPr lang="ko-KR" altLang="en-US"/>
              <a:t>예시로 첨부</a:t>
            </a:r>
            <a:r>
              <a:rPr lang="en-US" altLang="ko-KR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이를 통해 맞춤형 프롬프트를 생성해 정확도 향상 시도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b="1"/>
              <a:t>Error Analysis-based Instructions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먼저 모델이 잘못 예측한 케이스</a:t>
            </a:r>
            <a:r>
              <a:rPr lang="en-US" altLang="ko-KR"/>
              <a:t>(</a:t>
            </a:r>
            <a:r>
              <a:rPr lang="ko-KR" altLang="en-US"/>
              <a:t>오류 유형</a:t>
            </a:r>
            <a:r>
              <a:rPr lang="en-US" altLang="ko-KR"/>
              <a:t>)</a:t>
            </a:r>
            <a:r>
              <a:rPr lang="ko-KR" altLang="en-US"/>
              <a:t>을 분석해 정리</a:t>
            </a:r>
            <a:r>
              <a:rPr lang="en-US" altLang="ko-KR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모델에게 “이런 부분에서 잘못 판단하니 특히 주의하라”는 추가 지침을 넣어줌으로써 성능 개선</a:t>
            </a:r>
            <a:r>
              <a:rPr lang="en-US" altLang="ko-KR"/>
              <a:t>.</a:t>
            </a:r>
          </a:p>
          <a:p>
            <a:r>
              <a:rPr lang="ko-KR" altLang="en-US"/>
              <a:t>결국</a:t>
            </a:r>
            <a:r>
              <a:rPr lang="en-US" altLang="ko-KR"/>
              <a:t>, </a:t>
            </a:r>
            <a:r>
              <a:rPr lang="ko-KR" altLang="en-US" b="1"/>
              <a:t>구역 </a:t>
            </a:r>
            <a:r>
              <a:rPr lang="en-US" altLang="ko-KR" b="1"/>
              <a:t>B</a:t>
            </a:r>
            <a:r>
              <a:rPr lang="ko-KR" altLang="en-US"/>
              <a:t>에서는 </a:t>
            </a:r>
            <a:r>
              <a:rPr lang="ko-KR" altLang="en-US" b="1"/>
              <a:t>프롬프트 엔지니어링</a:t>
            </a:r>
            <a:r>
              <a:rPr lang="ko-KR" altLang="en-US"/>
              <a:t>을 통해 모델 예측 정확도를 높이는 다양한 방식을 실험한 뒤</a:t>
            </a:r>
            <a:r>
              <a:rPr lang="en-US" altLang="ko-KR"/>
              <a:t>, </a:t>
            </a:r>
            <a:r>
              <a:rPr lang="ko-KR" altLang="en-US"/>
              <a:t>그 중 **“오류 분석 기반 지시사항”**이 가장 효과적임을 확인하는 단계입니다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27710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704B597-4EAE-AC76-B408-CF27C917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8F5C46C4-2F83-489A-0B2C-585CAAE1D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984F4640-7689-C74A-C002-AA3BB421EC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ko-KR" b="1"/>
              <a:t>Model Evaluation (</a:t>
            </a:r>
            <a:r>
              <a:rPr lang="ko-KR" altLang="en-US" b="1"/>
              <a:t>모델 평가</a:t>
            </a:r>
            <a:r>
              <a:rPr lang="en-US" altLang="ko-KR" b="1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b="1"/>
              <a:t>LLM + </a:t>
            </a:r>
            <a:r>
              <a:rPr lang="ko-KR" altLang="en-US" b="1"/>
              <a:t>기존 머신러닝 모델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LLM(GPT-4)</a:t>
            </a:r>
            <a:r>
              <a:rPr lang="ko-KR" altLang="en-US"/>
              <a:t>과 </a:t>
            </a:r>
            <a:r>
              <a:rPr lang="en-US" altLang="ko-KR" b="1"/>
              <a:t>XGBoost</a:t>
            </a:r>
            <a:r>
              <a:rPr lang="en-US" altLang="ko-KR"/>
              <a:t>, </a:t>
            </a:r>
            <a:r>
              <a:rPr lang="en-US" altLang="ko-KR" b="1"/>
              <a:t>Attention-based DNN</a:t>
            </a:r>
            <a:r>
              <a:rPr lang="ko-KR" altLang="en-US"/>
              <a:t>을 각각 학습</a:t>
            </a:r>
            <a:r>
              <a:rPr lang="en-US" altLang="ko-KR"/>
              <a:t>/</a:t>
            </a:r>
            <a:r>
              <a:rPr lang="ko-KR" altLang="en-US"/>
              <a:t>테스트</a:t>
            </a:r>
            <a:r>
              <a:rPr lang="en-US" altLang="ko-KR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모든 모델은 동일한 임상 노트 데이터</a:t>
            </a:r>
            <a:r>
              <a:rPr lang="en-US" altLang="ko-KR"/>
              <a:t>(Dataset II)</a:t>
            </a:r>
            <a:r>
              <a:rPr lang="ko-KR" altLang="en-US"/>
              <a:t>에 대해 최종 성능</a:t>
            </a:r>
            <a:r>
              <a:rPr lang="en-US" altLang="ko-KR"/>
              <a:t>(</a:t>
            </a:r>
            <a:r>
              <a:rPr lang="ko-KR" altLang="en-US"/>
              <a:t>정밀도</a:t>
            </a:r>
            <a:r>
              <a:rPr lang="en-US" altLang="ko-KR"/>
              <a:t>·</a:t>
            </a:r>
            <a:r>
              <a:rPr lang="ko-KR" altLang="en-US"/>
              <a:t>재현율 등</a:t>
            </a:r>
            <a:r>
              <a:rPr lang="en-US" altLang="ko-KR"/>
              <a:t>)</a:t>
            </a:r>
            <a:r>
              <a:rPr lang="ko-KR" altLang="en-US"/>
              <a:t>을 평가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하이퍼파라미터 튜닝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XGBoost, Attention-based DNN</a:t>
            </a:r>
            <a:r>
              <a:rPr lang="ko-KR" altLang="en-US"/>
              <a:t>은 </a:t>
            </a:r>
            <a:r>
              <a:rPr lang="en-US" altLang="ko-KR"/>
              <a:t>Grid-search </a:t>
            </a:r>
            <a:r>
              <a:rPr lang="ko-KR" altLang="en-US"/>
              <a:t>등으로 최적 파라미터 탐색</a:t>
            </a:r>
            <a:r>
              <a:rPr lang="en-US" altLang="ko-KR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GPT-4</a:t>
            </a:r>
            <a:r>
              <a:rPr lang="ko-KR" altLang="en-US"/>
              <a:t>는 프롬프트</a:t>
            </a:r>
            <a:r>
              <a:rPr lang="en-US" altLang="ko-KR"/>
              <a:t>(</a:t>
            </a:r>
            <a:r>
              <a:rPr lang="ko-KR" altLang="en-US"/>
              <a:t>온도</a:t>
            </a:r>
            <a:r>
              <a:rPr lang="en-US" altLang="ko-KR"/>
              <a:t>, </a:t>
            </a:r>
            <a:r>
              <a:rPr lang="ko-KR" altLang="en-US"/>
              <a:t>시스템 명령 등</a:t>
            </a:r>
            <a:r>
              <a:rPr lang="en-US" altLang="ko-KR"/>
              <a:t>)</a:t>
            </a:r>
            <a:r>
              <a:rPr lang="ko-KR" altLang="en-US"/>
              <a:t>를 조정 가능하지만</a:t>
            </a:r>
            <a:r>
              <a:rPr lang="en-US" altLang="ko-KR"/>
              <a:t>, </a:t>
            </a:r>
            <a:r>
              <a:rPr lang="ko-KR" altLang="en-US"/>
              <a:t>모델 내부 파라미터는 변경 불가능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결과 비교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Precision, Recall, F1-score, Specificity, NPV </a:t>
            </a:r>
            <a:r>
              <a:rPr lang="ko-KR" altLang="en-US"/>
              <a:t>같은 핵심 지표를 측정</a:t>
            </a:r>
            <a:r>
              <a:rPr lang="en-US" altLang="ko-KR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GPT-4 </a:t>
            </a:r>
            <a:r>
              <a:rPr lang="ko-KR" altLang="en-US"/>
              <a:t>단독 성능 </a:t>
            </a:r>
            <a:r>
              <a:rPr lang="en-US" altLang="ko-KR"/>
              <a:t>vs. </a:t>
            </a:r>
            <a:r>
              <a:rPr lang="ko-KR" altLang="en-US"/>
              <a:t>기존 머신러닝 </a:t>
            </a:r>
            <a:r>
              <a:rPr lang="en-US" altLang="ko-KR"/>
              <a:t>vs. </a:t>
            </a:r>
            <a:r>
              <a:rPr lang="ko-KR" altLang="en-US"/>
              <a:t>딥러닝 모델 성능</a:t>
            </a:r>
            <a:r>
              <a:rPr lang="en-US" altLang="ko-KR"/>
              <a:t>.</a:t>
            </a:r>
          </a:p>
          <a:p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 b="1"/>
              <a:t>구역 </a:t>
            </a:r>
            <a:r>
              <a:rPr lang="en-US" altLang="ko-KR" b="1"/>
              <a:t>C</a:t>
            </a:r>
            <a:r>
              <a:rPr lang="ko-KR" altLang="en-US"/>
              <a:t>에서는 </a:t>
            </a:r>
            <a:r>
              <a:rPr lang="ko-KR" altLang="en-US" b="1"/>
              <a:t>최종 모델들을 실제 테스트 세트에 적용</a:t>
            </a:r>
            <a:r>
              <a:rPr lang="ko-KR" altLang="en-US"/>
              <a:t>하여 각 모델의 성능을 정량적으로 </a:t>
            </a:r>
            <a:r>
              <a:rPr lang="ko-KR" altLang="en-US" b="1"/>
              <a:t>비교</a:t>
            </a:r>
            <a:r>
              <a:rPr lang="en-US" altLang="ko-KR" b="1"/>
              <a:t>·</a:t>
            </a:r>
            <a:r>
              <a:rPr lang="ko-KR" altLang="en-US" b="1"/>
              <a:t>평가</a:t>
            </a:r>
            <a:r>
              <a:rPr lang="ko-KR" altLang="en-US"/>
              <a:t>하는 과정을 나타냅니다</a:t>
            </a:r>
            <a:r>
              <a:rPr lang="en-US" altLang="ko-KR"/>
              <a:t>.</a:t>
            </a:r>
          </a:p>
          <a:p>
            <a:r>
              <a:rPr lang="en-US" altLang="ko-KR" b="1"/>
              <a:t>D. Interpretation and Error Analysis (</a:t>
            </a:r>
            <a:r>
              <a:rPr lang="ko-KR" altLang="en-US" b="1"/>
              <a:t>해석 및 오류 분석</a:t>
            </a:r>
            <a:r>
              <a:rPr lang="en-US" altLang="ko-KR" b="1"/>
              <a:t>)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해석</a:t>
            </a:r>
            <a:r>
              <a:rPr lang="en-US" altLang="ko-KR" b="1"/>
              <a:t>(Interpretation)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각 모델</a:t>
            </a:r>
            <a:r>
              <a:rPr lang="en-US" altLang="ko-KR"/>
              <a:t>(</a:t>
            </a:r>
            <a:r>
              <a:rPr lang="ko-KR" altLang="en-US"/>
              <a:t>특히 </a:t>
            </a:r>
            <a:r>
              <a:rPr lang="en-US" altLang="ko-KR"/>
              <a:t>Attention-based DNN, GPT-4)</a:t>
            </a:r>
            <a:r>
              <a:rPr lang="ko-KR" altLang="en-US"/>
              <a:t>이 인지 저하를 판별할 때 집중하거나 자주 사용하는 단어</a:t>
            </a:r>
            <a:r>
              <a:rPr lang="en-US" altLang="ko-KR"/>
              <a:t>·</a:t>
            </a:r>
            <a:r>
              <a:rPr lang="ko-KR" altLang="en-US"/>
              <a:t>키워드를 확인</a:t>
            </a:r>
            <a:r>
              <a:rPr lang="en-US" altLang="ko-KR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예</a:t>
            </a:r>
            <a:r>
              <a:rPr lang="en-US" altLang="ko-KR"/>
              <a:t>: “memory,” “forgetful,” “dementia,” </a:t>
            </a:r>
            <a:r>
              <a:rPr lang="ko-KR" altLang="en-US"/>
              <a:t>등 도메인 전문가가 관심 가질 만한 용어 목록 산출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에러 분석</a:t>
            </a:r>
            <a:r>
              <a:rPr lang="en-US" altLang="ko-KR" b="1"/>
              <a:t>(Error Analysis)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어떤 케이스에서 왜 오답이 발생했는지 모델별로 비교</a:t>
            </a:r>
            <a:r>
              <a:rPr lang="en-US" altLang="ko-KR"/>
              <a:t>(</a:t>
            </a:r>
            <a:r>
              <a:rPr lang="ko-KR" altLang="en-US"/>
              <a:t>벤다이어그램</a:t>
            </a:r>
            <a:r>
              <a:rPr lang="en-US" altLang="ko-KR"/>
              <a:t>, </a:t>
            </a:r>
            <a:r>
              <a:rPr lang="ko-KR" altLang="en-US"/>
              <a:t>표 등</a:t>
            </a:r>
            <a:r>
              <a:rPr lang="en-US" altLang="ko-KR"/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GPT-4</a:t>
            </a:r>
            <a:r>
              <a:rPr lang="ko-KR" altLang="en-US"/>
              <a:t>는 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맥락 해석이 뛰어나지만</a:t>
            </a:r>
            <a:r>
              <a:rPr lang="en-US" altLang="ko-KR"/>
              <a:t>, </a:t>
            </a:r>
            <a:r>
              <a:rPr lang="ko-KR" altLang="en-US"/>
              <a:t>특정 의학 용어</a:t>
            </a:r>
            <a:r>
              <a:rPr lang="en-US" altLang="ko-KR"/>
              <a:t>(</a:t>
            </a:r>
            <a:r>
              <a:rPr lang="ko-KR" altLang="en-US"/>
              <a:t>진단 코드</a:t>
            </a:r>
            <a:r>
              <a:rPr lang="en-US" altLang="ko-KR"/>
              <a:t>, </a:t>
            </a:r>
            <a:r>
              <a:rPr lang="ko-KR" altLang="en-US"/>
              <a:t>검사 수치</a:t>
            </a:r>
            <a:r>
              <a:rPr lang="en-US" altLang="ko-KR"/>
              <a:t>)</a:t>
            </a:r>
            <a:r>
              <a:rPr lang="ko-KR" altLang="en-US"/>
              <a:t>를 잘못 이해할 수 있음</a:t>
            </a:r>
            <a:r>
              <a:rPr lang="en-US" altLang="ko-KR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/>
              <a:t>Attention-DNN</a:t>
            </a:r>
            <a:r>
              <a:rPr lang="ko-KR" altLang="en-US"/>
              <a:t>은 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중의적 표현이나 부정</a:t>
            </a:r>
            <a:r>
              <a:rPr lang="en-US" altLang="ko-KR"/>
              <a:t>(negation)</a:t>
            </a:r>
            <a:r>
              <a:rPr lang="ko-KR" altLang="en-US"/>
              <a:t>에 취약할 수 있음</a:t>
            </a:r>
            <a:r>
              <a:rPr lang="en-US" altLang="ko-KR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결과</a:t>
            </a:r>
            <a:endParaRPr lang="ko-KR" altLang="en-US"/>
          </a:p>
          <a:p>
            <a:pPr marL="742950" lvl="1" indent="-285750">
              <a:buFont typeface="+mj-lt"/>
              <a:buAutoNum type="arabicPeriod"/>
            </a:pPr>
            <a:r>
              <a:rPr lang="ko-KR" altLang="en-US"/>
              <a:t>오류 유형을 세부적으로 파악함으로써 “</a:t>
            </a:r>
            <a:r>
              <a:rPr lang="en-US" altLang="ko-KR"/>
              <a:t>Error analysis-based Instructions” </a:t>
            </a:r>
            <a:r>
              <a:rPr lang="ko-KR" altLang="en-US"/>
              <a:t>등을 추가로 보완할 수 있는 근거 마련</a:t>
            </a:r>
            <a:r>
              <a:rPr lang="en-US" altLang="ko-KR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b="1"/>
              <a:t>앙상블</a:t>
            </a:r>
            <a:r>
              <a:rPr lang="ko-KR" altLang="en-US"/>
              <a:t> 시 어떤 오답 패턴들이 상호 보완되는지도 확인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22438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AE7C3FA-3EA1-DFDD-3988-21F5648A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7F6FCC7D-870B-9F69-3F18-E93215D54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50E03CBA-77A4-25E3-F2CF-192873E054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/>
              <a:t>Dataset I</a:t>
            </a:r>
            <a:r>
              <a:rPr lang="ko-KR" altLang="en-US"/>
              <a:t>에서 </a:t>
            </a:r>
            <a:r>
              <a:rPr lang="en-US" altLang="ko-KR"/>
              <a:t>10</a:t>
            </a:r>
            <a:r>
              <a:rPr lang="ko-KR" altLang="en-US"/>
              <a:t>개의 노트 섹션을 임의 추출하여</a:t>
            </a:r>
            <a:r>
              <a:rPr lang="en-US" altLang="ko-KR"/>
              <a:t>, LLM(</a:t>
            </a:r>
            <a:r>
              <a:rPr lang="ko-KR" altLang="en-US"/>
              <a:t>대규모 언어 모델</a:t>
            </a:r>
            <a:r>
              <a:rPr lang="en-US" altLang="ko-KR"/>
              <a:t>) </a:t>
            </a:r>
            <a:r>
              <a:rPr lang="ko-KR" altLang="en-US"/>
              <a:t>프롬프트 템플릿을 실험하기 위한 </a:t>
            </a:r>
            <a:r>
              <a:rPr lang="ko-KR" altLang="en-US" b="1"/>
              <a:t>소규모 평가 데이터</a:t>
            </a:r>
            <a:r>
              <a:rPr lang="ko-KR" altLang="en-US"/>
              <a:t>로 사용함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/>
          </a:p>
          <a:p>
            <a:r>
              <a:rPr lang="en-US" altLang="ko-KR" b="1"/>
              <a:t>GPT-4 (8K) vs. LLaMa 2 (13B)</a:t>
            </a:r>
            <a:endParaRPr lang="ko-KR" altLang="en-US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그림에서 보이듯</a:t>
            </a:r>
            <a:r>
              <a:rPr lang="en-US" altLang="ko-KR"/>
              <a:t>, GPT-4</a:t>
            </a:r>
            <a:r>
              <a:rPr lang="ko-KR" altLang="en-US"/>
              <a:t>는 </a:t>
            </a:r>
            <a:r>
              <a:rPr lang="en-US" altLang="ko-KR"/>
              <a:t>Template 1</a:t>
            </a:r>
            <a:r>
              <a:rPr lang="ko-KR" altLang="en-US"/>
              <a:t>에서 **</a:t>
            </a:r>
            <a:r>
              <a:rPr lang="en-US" altLang="ko-KR"/>
              <a:t>100%**</a:t>
            </a:r>
            <a:r>
              <a:rPr lang="ko-KR" altLang="en-US"/>
              <a:t>의 </a:t>
            </a:r>
            <a:r>
              <a:rPr lang="en-US" altLang="ko-KR"/>
              <a:t>Effective Response Rate</a:t>
            </a:r>
            <a:r>
              <a:rPr lang="ko-KR" altLang="en-US"/>
              <a:t>를 달성했고</a:t>
            </a:r>
            <a:r>
              <a:rPr lang="en-US" altLang="ko-KR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LLaMa 2</a:t>
            </a:r>
            <a:r>
              <a:rPr lang="ko-KR" altLang="en-US"/>
              <a:t>는 </a:t>
            </a:r>
            <a:r>
              <a:rPr lang="en-US" altLang="ko-KR"/>
              <a:t>Template 2</a:t>
            </a:r>
            <a:r>
              <a:rPr lang="ko-KR" altLang="en-US"/>
              <a:t>에서 </a:t>
            </a:r>
            <a:r>
              <a:rPr lang="en-US" altLang="ko-KR"/>
              <a:t>80% </a:t>
            </a:r>
            <a:r>
              <a:rPr lang="ko-KR" altLang="en-US"/>
              <a:t>수준이 최고치였음</a:t>
            </a:r>
            <a:r>
              <a:rPr lang="en-US" altLang="ko-KR"/>
              <a:t>(</a:t>
            </a:r>
            <a:r>
              <a:rPr lang="ko-KR" altLang="en-US"/>
              <a:t>그 외 템플릿에서는 더 낮은 수치</a:t>
            </a:r>
            <a:r>
              <a:rPr lang="en-US" altLang="ko-KR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최종 </a:t>
            </a:r>
            <a:r>
              <a:rPr lang="en-US" altLang="ko-KR"/>
              <a:t>Accuracy </a:t>
            </a:r>
            <a:r>
              <a:rPr lang="ko-KR" altLang="en-US"/>
              <a:t>역시 </a:t>
            </a:r>
            <a:r>
              <a:rPr lang="en-US" altLang="ko-KR"/>
              <a:t>GPT-4</a:t>
            </a:r>
            <a:r>
              <a:rPr lang="ko-KR" altLang="en-US"/>
              <a:t>가 </a:t>
            </a:r>
            <a:r>
              <a:rPr lang="en-US" altLang="ko-KR"/>
              <a:t>86.5%</a:t>
            </a:r>
            <a:r>
              <a:rPr lang="ko-KR" altLang="en-US"/>
              <a:t>로</a:t>
            </a:r>
            <a:r>
              <a:rPr lang="en-US" altLang="ko-KR"/>
              <a:t>, LLaMa 2</a:t>
            </a:r>
            <a:r>
              <a:rPr lang="ko-KR" altLang="en-US"/>
              <a:t>의 </a:t>
            </a:r>
            <a:r>
              <a:rPr lang="en-US" altLang="ko-KR"/>
              <a:t>52.0%</a:t>
            </a:r>
            <a:r>
              <a:rPr lang="ko-KR" altLang="en-US"/>
              <a:t>보다 월등히 높게 측정됨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따라서 이 단계</a:t>
            </a:r>
            <a:r>
              <a:rPr lang="en-US" altLang="ko-KR"/>
              <a:t>(A)</a:t>
            </a:r>
            <a:r>
              <a:rPr lang="ko-KR" altLang="en-US"/>
              <a:t>에서 </a:t>
            </a:r>
            <a:r>
              <a:rPr lang="en-US" altLang="ko-KR"/>
              <a:t>GPT-4</a:t>
            </a:r>
            <a:r>
              <a:rPr lang="ko-KR" altLang="en-US"/>
              <a:t>가 </a:t>
            </a:r>
            <a:r>
              <a:rPr lang="en-US" altLang="ko-KR"/>
              <a:t>LLaMa 2</a:t>
            </a:r>
            <a:r>
              <a:rPr lang="ko-KR" altLang="en-US"/>
              <a:t>보다 더 적합하다고 판단되어</a:t>
            </a:r>
            <a:r>
              <a:rPr lang="en-US" altLang="ko-KR"/>
              <a:t>, </a:t>
            </a:r>
            <a:r>
              <a:rPr lang="ko-KR" altLang="en-US"/>
              <a:t>최종 연구에는 </a:t>
            </a:r>
            <a:r>
              <a:rPr lang="en-US" altLang="ko-KR"/>
              <a:t>GPT-4</a:t>
            </a:r>
            <a:r>
              <a:rPr lang="ko-KR" altLang="en-US"/>
              <a:t>가 사용됨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14718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1F08653-9110-7042-BC2D-15D30176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C08FDC73-C6B3-2640-5E87-119351108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12CCF745-ADE3-2849-3064-3A47AEA333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ko-KR" b="1"/>
              <a:t>Dataset I–S</a:t>
            </a:r>
            <a:r>
              <a:rPr lang="ko-KR" altLang="en-US"/>
              <a:t> </a:t>
            </a:r>
            <a:r>
              <a:rPr lang="en-US" altLang="ko-KR"/>
              <a:t>(200</a:t>
            </a:r>
            <a:r>
              <a:rPr lang="ko-KR" altLang="en-US"/>
              <a:t>개 노트 섹션</a:t>
            </a:r>
            <a:r>
              <a:rPr lang="en-US" altLang="ko-KR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(A) </a:t>
            </a:r>
            <a:r>
              <a:rPr lang="ko-KR" altLang="en-US"/>
              <a:t>단계에서 선정된 </a:t>
            </a:r>
            <a:r>
              <a:rPr lang="en-US" altLang="ko-KR"/>
              <a:t>GPT-4 </a:t>
            </a:r>
            <a:r>
              <a:rPr lang="ko-KR" altLang="en-US"/>
              <a:t>모델에 대해</a:t>
            </a:r>
            <a:r>
              <a:rPr lang="en-US" altLang="ko-KR"/>
              <a:t>, </a:t>
            </a:r>
            <a:r>
              <a:rPr lang="ko-KR" altLang="en-US"/>
              <a:t>프롬프트를 어떻게 개선하면 정확도가 높아지는지 평가</a:t>
            </a:r>
            <a:r>
              <a:rPr lang="en-US" altLang="ko-KR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Zero-shot vs. Few-shot</a:t>
            </a:r>
            <a:r>
              <a:rPr lang="en-US" altLang="ko-KR"/>
              <a:t>(</a:t>
            </a:r>
            <a:r>
              <a:rPr lang="ko-KR" altLang="en-US"/>
              <a:t>랜덤 예시</a:t>
            </a:r>
            <a:r>
              <a:rPr lang="en-US" altLang="ko-KR"/>
              <a:t>, </a:t>
            </a:r>
            <a:r>
              <a:rPr lang="ko-KR" altLang="en-US"/>
              <a:t>잘못 예측된 예시</a:t>
            </a:r>
            <a:r>
              <a:rPr lang="en-US" altLang="ko-KR"/>
              <a:t>, k-means </a:t>
            </a:r>
            <a:r>
              <a:rPr lang="ko-KR" altLang="en-US"/>
              <a:t>클러스터링</a:t>
            </a:r>
            <a:r>
              <a:rPr lang="en-US" altLang="ko-KR"/>
              <a:t>, dynamic retrieval </a:t>
            </a:r>
            <a:r>
              <a:rPr lang="ko-KR" altLang="en-US"/>
              <a:t>등</a:t>
            </a:r>
            <a:r>
              <a:rPr lang="en-US" altLang="ko-KR"/>
              <a:t>)</a:t>
            </a:r>
            <a:r>
              <a:rPr lang="ko-KR" altLang="en-US"/>
              <a:t>을 실험</a:t>
            </a:r>
            <a:r>
              <a:rPr lang="en-US" altLang="ko-KR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표에 따르면 </a:t>
            </a:r>
            <a:r>
              <a:rPr lang="en-US" altLang="ko-KR"/>
              <a:t>Zero-shot</a:t>
            </a:r>
            <a:r>
              <a:rPr lang="ko-KR" altLang="en-US"/>
              <a:t>에서 정확도가 </a:t>
            </a:r>
            <a:r>
              <a:rPr lang="en-US" altLang="ko-KR"/>
              <a:t>86.5%, Five-shot with random examples</a:t>
            </a:r>
            <a:r>
              <a:rPr lang="ko-KR" altLang="en-US"/>
              <a:t>는 </a:t>
            </a:r>
            <a:r>
              <a:rPr lang="en-US" altLang="ko-KR"/>
              <a:t>83.0%, k-means </a:t>
            </a:r>
            <a:r>
              <a:rPr lang="ko-KR" altLang="en-US"/>
              <a:t>클러스터링은 </a:t>
            </a:r>
            <a:r>
              <a:rPr lang="en-US" altLang="ko-KR"/>
              <a:t>77.5%, </a:t>
            </a:r>
            <a:r>
              <a:rPr lang="ko-KR" altLang="en-US"/>
              <a:t>등등 다양한 시도를 함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/>
          </a:p>
          <a:p>
            <a:r>
              <a:rPr lang="en-US" altLang="ko-KR" b="1"/>
              <a:t>Error Analysis-based Instructions (Template 7)</a:t>
            </a:r>
            <a:endParaRPr lang="ko-KR" altLang="en-US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기존 모델이 잘못 예측한 사례</a:t>
            </a:r>
            <a:r>
              <a:rPr lang="en-US" altLang="ko-KR"/>
              <a:t>(</a:t>
            </a:r>
            <a:r>
              <a:rPr lang="ko-KR" altLang="en-US"/>
              <a:t>오류 패턴</a:t>
            </a:r>
            <a:r>
              <a:rPr lang="en-US" altLang="ko-KR"/>
              <a:t>)</a:t>
            </a:r>
            <a:r>
              <a:rPr lang="ko-KR" altLang="en-US"/>
              <a:t>를 분석해</a:t>
            </a:r>
            <a:r>
              <a:rPr lang="en-US" altLang="ko-KR"/>
              <a:t>, “</a:t>
            </a:r>
            <a:r>
              <a:rPr lang="ko-KR" altLang="en-US"/>
              <a:t>이런 부분을 주의해서 판단하라”는 문구를 추가</a:t>
            </a:r>
            <a:r>
              <a:rPr lang="en-US" altLang="ko-KR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/>
              <a:t>이때 정확도가 **</a:t>
            </a:r>
            <a:r>
              <a:rPr lang="en-US" altLang="ko-KR"/>
              <a:t>93.0%**</a:t>
            </a:r>
            <a:r>
              <a:rPr lang="ko-KR" altLang="en-US"/>
              <a:t>까지 향상됨</a:t>
            </a:r>
            <a:r>
              <a:rPr lang="en-US" altLang="ko-KR"/>
              <a:t>(</a:t>
            </a:r>
            <a:r>
              <a:rPr lang="ko-KR" altLang="en-US"/>
              <a:t>가장 우수한 성능</a:t>
            </a:r>
            <a:r>
              <a:rPr lang="en-US" altLang="ko-KR"/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/>
          </a:p>
          <a:p>
            <a:r>
              <a:rPr lang="en-US" altLang="ko-KR" b="1"/>
              <a:t>Model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Dataset II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1,996</a:t>
            </a:r>
            <a:r>
              <a:rPr lang="ko-KR" altLang="en-US"/>
              <a:t>개 노트 섹션</a:t>
            </a:r>
            <a:r>
              <a:rPr lang="en-US" altLang="ko-KR"/>
              <a:t>, </a:t>
            </a:r>
            <a:r>
              <a:rPr lang="ko-KR" altLang="en-US"/>
              <a:t>키워드 필터 없이 무작위</a:t>
            </a:r>
            <a:r>
              <a:rPr lang="en-US" altLang="ko-KR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최종적으로 확정된 </a:t>
            </a:r>
            <a:r>
              <a:rPr lang="en-US" altLang="ko-KR"/>
              <a:t>GPT-4 </a:t>
            </a:r>
            <a:r>
              <a:rPr lang="ko-KR" altLang="en-US"/>
              <a:t>프롬프트</a:t>
            </a:r>
            <a:r>
              <a:rPr lang="en-US" altLang="ko-KR"/>
              <a:t>(Template 7)</a:t>
            </a:r>
            <a:r>
              <a:rPr lang="ko-KR" altLang="en-US"/>
              <a:t>와</a:t>
            </a:r>
            <a:r>
              <a:rPr lang="en-US" altLang="ko-KR"/>
              <a:t>, </a:t>
            </a:r>
            <a:r>
              <a:rPr lang="ko-KR" altLang="en-US"/>
              <a:t>두 가지 전통적 모델</a:t>
            </a:r>
            <a:r>
              <a:rPr lang="en-US" altLang="ko-KR"/>
              <a:t>(XGBoost, Attention-based DNN)</a:t>
            </a:r>
            <a:r>
              <a:rPr lang="ko-KR" altLang="en-US"/>
              <a:t>을 동일 데이터로 평가함</a:t>
            </a:r>
            <a:r>
              <a:rPr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XGBoost</a:t>
            </a:r>
            <a:r>
              <a:rPr lang="ko-KR" altLang="en-US"/>
              <a:t>는 </a:t>
            </a:r>
            <a:r>
              <a:rPr lang="en-US" altLang="ko-KR"/>
              <a:t>Precision 79.3%, Recall 92.7%, F1 85.4% </a:t>
            </a:r>
            <a:r>
              <a:rPr lang="ko-KR" altLang="en-US"/>
              <a:t>달성</a:t>
            </a:r>
            <a:r>
              <a:rPr lang="en-US" altLang="ko-KR"/>
              <a:t>, Attention-based DNN</a:t>
            </a:r>
            <a:r>
              <a:rPr lang="ko-KR" altLang="en-US"/>
              <a:t>도 유사 성능</a:t>
            </a:r>
            <a:r>
              <a:rPr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GPT-4</a:t>
            </a:r>
            <a:r>
              <a:rPr lang="ko-KR" altLang="en-US"/>
              <a:t>는 </a:t>
            </a:r>
            <a:r>
              <a:rPr lang="en-US" altLang="ko-KR"/>
              <a:t>Recall</a:t>
            </a:r>
            <a:r>
              <a:rPr lang="ko-KR" altLang="en-US"/>
              <a:t>은 </a:t>
            </a:r>
            <a:r>
              <a:rPr lang="en-US" altLang="ko-KR"/>
              <a:t>91.4%</a:t>
            </a:r>
            <a:r>
              <a:rPr lang="ko-KR" altLang="en-US"/>
              <a:t>로 높았으나 </a:t>
            </a:r>
            <a:r>
              <a:rPr lang="en-US" altLang="ko-KR"/>
              <a:t>Precision</a:t>
            </a:r>
            <a:r>
              <a:rPr lang="ko-KR" altLang="en-US"/>
              <a:t>이 </a:t>
            </a:r>
            <a:r>
              <a:rPr lang="en-US" altLang="ko-KR"/>
              <a:t>71.7%</a:t>
            </a:r>
            <a:r>
              <a:rPr lang="ko-KR" altLang="en-US"/>
              <a:t>로 다소 떨어짐</a:t>
            </a:r>
            <a:r>
              <a:rPr lang="en-US" altLang="ko-KR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Ensemble (Majority vote)</a:t>
            </a:r>
            <a:endParaRPr lang="ko-KR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GPT-4 / XGBoost / Attention-based DNN, </a:t>
            </a:r>
            <a:r>
              <a:rPr lang="ko-KR" altLang="en-US"/>
              <a:t>각 모델 예측</a:t>
            </a:r>
            <a:r>
              <a:rPr lang="en-US" altLang="ko-KR"/>
              <a:t>(</a:t>
            </a:r>
            <a:r>
              <a:rPr lang="ko-KR" altLang="en-US"/>
              <a:t>양성</a:t>
            </a:r>
            <a:r>
              <a:rPr lang="en-US" altLang="ko-KR"/>
              <a:t>/</a:t>
            </a:r>
            <a:r>
              <a:rPr lang="ko-KR" altLang="en-US"/>
              <a:t>음성</a:t>
            </a:r>
            <a:r>
              <a:rPr lang="en-US" altLang="ko-KR"/>
              <a:t>)</a:t>
            </a:r>
            <a:r>
              <a:rPr lang="ko-KR" altLang="en-US"/>
              <a:t>을 다수결로 결합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Precision</a:t>
            </a:r>
            <a:r>
              <a:rPr lang="ko-KR" altLang="en-US"/>
              <a:t>이 단독 모델 대비 크게 개선</a:t>
            </a:r>
            <a:r>
              <a:rPr lang="en-US" altLang="ko-KR"/>
              <a:t>(90.2%), Recall</a:t>
            </a:r>
            <a:r>
              <a:rPr lang="ko-KR" altLang="en-US"/>
              <a:t>도 </a:t>
            </a:r>
            <a:r>
              <a:rPr lang="en-US" altLang="ko-KR"/>
              <a:t>94.2%</a:t>
            </a:r>
            <a:r>
              <a:rPr lang="ko-KR" altLang="en-US"/>
              <a:t>로 높아져 </a:t>
            </a:r>
            <a:r>
              <a:rPr lang="en-US" altLang="ko-KR"/>
              <a:t>F1=92.1%.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논문 핵심 결론 중 하나</a:t>
            </a:r>
            <a:r>
              <a:rPr lang="en-US" altLang="ko-KR"/>
              <a:t>: </a:t>
            </a:r>
            <a:r>
              <a:rPr lang="ko-KR" altLang="en-US" b="1"/>
              <a:t>서로 다른 오류 양상을 보이는 모델을 앙상블하면 종합 성능이 비약적으로 상승</a:t>
            </a:r>
            <a:r>
              <a:rPr lang="ko-KR" altLang="en-US"/>
              <a:t>한다는 점</a:t>
            </a:r>
            <a:r>
              <a:rPr lang="en-US" altLang="ko-KR"/>
              <a:t>.</a:t>
            </a:r>
          </a:p>
          <a:p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en-US" altLang="ko-KR" b="1"/>
              <a:t>(B) </a:t>
            </a:r>
            <a:r>
              <a:rPr lang="ko-KR" altLang="en-US" b="1"/>
              <a:t>파트는 프롬프트 최적화</a:t>
            </a:r>
            <a:r>
              <a:rPr lang="en-US" altLang="ko-KR" b="1"/>
              <a:t>(Zero-shot, Few-shot, </a:t>
            </a:r>
            <a:r>
              <a:rPr lang="ko-KR" altLang="en-US" b="1"/>
              <a:t>오류분석 기반 등</a:t>
            </a:r>
            <a:r>
              <a:rPr lang="en-US" altLang="ko-KR" b="1"/>
              <a:t>) </a:t>
            </a:r>
            <a:r>
              <a:rPr lang="ko-KR" altLang="en-US" b="1"/>
              <a:t>과정과</a:t>
            </a:r>
            <a:r>
              <a:rPr lang="en-US" altLang="ko-KR" b="1"/>
              <a:t>, </a:t>
            </a:r>
            <a:r>
              <a:rPr lang="ko-KR" altLang="en-US" b="1"/>
              <a:t>최종적으로 </a:t>
            </a:r>
            <a:r>
              <a:rPr lang="en-US" altLang="ko-KR" b="1"/>
              <a:t>XGBoost, Attention-based DNN, GPT-4</a:t>
            </a:r>
            <a:r>
              <a:rPr lang="ko-KR" altLang="en-US" b="1"/>
              <a:t>를 비교</a:t>
            </a:r>
            <a:r>
              <a:rPr lang="en-US" altLang="ko-KR" b="1"/>
              <a:t>·</a:t>
            </a:r>
            <a:r>
              <a:rPr lang="ko-KR" altLang="en-US" b="1"/>
              <a:t>결합한 결과</a:t>
            </a:r>
            <a:r>
              <a:rPr lang="ko-KR" altLang="en-US"/>
              <a:t>를 한눈에 보여줍니다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4115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1B071F3-FEF9-CF0C-DE70-D51F552D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C826AED9-4A7D-3804-D3CA-A402532DE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E15EA98E-8D68-50A8-20EE-9E2864CA6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GPT-4 Errors (</a:t>
            </a:r>
            <a:r>
              <a:rPr lang="ko-KR" altLang="en-US" b="1"/>
              <a:t>빨간색 원</a:t>
            </a:r>
            <a:r>
              <a:rPr lang="en-US" altLang="ko-KR" b="1"/>
              <a:t>)</a:t>
            </a:r>
            <a:endParaRPr lang="ko-KR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GPT-4</a:t>
            </a:r>
            <a:r>
              <a:rPr lang="ko-KR" altLang="en-US"/>
              <a:t>만 틀린 케이스가 </a:t>
            </a:r>
            <a:r>
              <a:rPr lang="en-US" altLang="ko-KR"/>
              <a:t>26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다른 모델과 중복되는 오류가 일부 존재</a:t>
            </a:r>
            <a:r>
              <a:rPr lang="en-US" altLang="ko-KR"/>
              <a:t>(</a:t>
            </a:r>
            <a:r>
              <a:rPr lang="ko-KR" altLang="en-US"/>
              <a:t>빨간</a:t>
            </a:r>
            <a:r>
              <a:rPr lang="en-US" altLang="ko-KR"/>
              <a:t>+</a:t>
            </a:r>
            <a:r>
              <a:rPr lang="ko-KR" altLang="en-US"/>
              <a:t>다른색 교집합</a:t>
            </a:r>
            <a:r>
              <a:rPr lang="en-US" altLang="ko-KR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Deep Learning Errors (Attention-based DNN, </a:t>
            </a:r>
            <a:r>
              <a:rPr lang="ko-KR" altLang="en-US" b="1"/>
              <a:t>초록색 원</a:t>
            </a:r>
            <a:r>
              <a:rPr lang="en-US" altLang="ko-KR" b="1"/>
              <a:t>)</a:t>
            </a:r>
            <a:endParaRPr lang="ko-KR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딥러닝 모델만 틀린 케이스가 </a:t>
            </a:r>
            <a:r>
              <a:rPr lang="en-US" altLang="ko-KR"/>
              <a:t>13</a:t>
            </a:r>
            <a:r>
              <a:rPr lang="ko-KR" altLang="en-US"/>
              <a:t>개</a:t>
            </a:r>
            <a:r>
              <a:rPr lang="en-US" altLang="ko-KR"/>
              <a:t>, XGBoost</a:t>
            </a:r>
            <a:r>
              <a:rPr lang="ko-KR" altLang="en-US"/>
              <a:t>와 겹치는 부분</a:t>
            </a:r>
            <a:r>
              <a:rPr lang="en-US" altLang="ko-KR"/>
              <a:t>(6), GPT-4</a:t>
            </a:r>
            <a:r>
              <a:rPr lang="ko-KR" altLang="en-US"/>
              <a:t>와 겹치는 부분</a:t>
            </a:r>
            <a:r>
              <a:rPr lang="en-US" altLang="ko-KR"/>
              <a:t>(2) </a:t>
            </a:r>
            <a:r>
              <a:rPr lang="ko-KR" altLang="en-US"/>
              <a:t>등으로 구분됨</a:t>
            </a:r>
            <a:r>
              <a:rPr lang="en-US" altLang="ko-KR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/>
              <a:t>XGBoost Errors (</a:t>
            </a:r>
            <a:r>
              <a:rPr lang="ko-KR" altLang="en-US" b="1"/>
              <a:t>보라색 원</a:t>
            </a:r>
            <a:r>
              <a:rPr lang="en-US" altLang="ko-KR" b="1"/>
              <a:t>)</a:t>
            </a:r>
            <a:endParaRPr lang="ko-KR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/>
              <a:t>XGBoost</a:t>
            </a:r>
            <a:r>
              <a:rPr lang="ko-KR" altLang="en-US"/>
              <a:t>만 틀린 케이스가 </a:t>
            </a:r>
            <a:r>
              <a:rPr lang="en-US" altLang="ko-KR"/>
              <a:t>13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나머지는 다른 모델과 중첩</a:t>
            </a:r>
            <a:r>
              <a:rPr lang="en-US" altLang="ko-KR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전체 교집합</a:t>
            </a:r>
            <a:r>
              <a:rPr lang="en-US" altLang="ko-KR"/>
              <a:t>(</a:t>
            </a:r>
            <a:r>
              <a:rPr lang="ko-KR" altLang="en-US"/>
              <a:t>모든 모델이 공통으로 틀린 케이스</a:t>
            </a:r>
            <a:r>
              <a:rPr lang="en-US" altLang="ko-KR"/>
              <a:t>)</a:t>
            </a:r>
            <a:r>
              <a:rPr lang="ko-KR" altLang="en-US"/>
              <a:t>은 그림상 </a:t>
            </a:r>
            <a:r>
              <a:rPr lang="en-US" altLang="ko-KR"/>
              <a:t>2</a:t>
            </a:r>
            <a:r>
              <a:rPr lang="ko-KR" altLang="en-US"/>
              <a:t>건</a:t>
            </a:r>
            <a:r>
              <a:rPr lang="en-US" altLang="ko-KR"/>
              <a:t>(</a:t>
            </a:r>
            <a:r>
              <a:rPr lang="ko-KR" altLang="en-US"/>
              <a:t>빨강</a:t>
            </a:r>
            <a:r>
              <a:rPr lang="en-US" altLang="ko-KR"/>
              <a:t>+</a:t>
            </a:r>
            <a:r>
              <a:rPr lang="ko-KR" altLang="en-US"/>
              <a:t>녹색</a:t>
            </a:r>
            <a:r>
              <a:rPr lang="en-US" altLang="ko-KR"/>
              <a:t>+</a:t>
            </a:r>
            <a:r>
              <a:rPr lang="ko-KR" altLang="en-US"/>
              <a:t>보라색이 겹치는 지점</a:t>
            </a:r>
            <a:r>
              <a:rPr lang="en-US" altLang="ko-KR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/>
              <a:t>즉</a:t>
            </a:r>
            <a:r>
              <a:rPr lang="en-US" altLang="ko-KR"/>
              <a:t>, 3</a:t>
            </a:r>
            <a:r>
              <a:rPr lang="ko-KR" altLang="en-US"/>
              <a:t>개 모델이 모두 놓친 사례가 매우 적어</a:t>
            </a:r>
            <a:r>
              <a:rPr lang="en-US" altLang="ko-KR"/>
              <a:t>(</a:t>
            </a:r>
            <a:r>
              <a:rPr lang="ko-KR" altLang="en-US"/>
              <a:t>오직 </a:t>
            </a:r>
            <a:r>
              <a:rPr lang="en-US" altLang="ko-KR"/>
              <a:t>2</a:t>
            </a:r>
            <a:r>
              <a:rPr lang="ko-KR" altLang="en-US"/>
              <a:t>개</a:t>
            </a:r>
            <a:r>
              <a:rPr lang="en-US" altLang="ko-KR"/>
              <a:t>), </a:t>
            </a:r>
            <a:r>
              <a:rPr lang="ko-KR" altLang="en-US"/>
              <a:t>앙상블 시 이점을 얻을 수 있음을 시사</a:t>
            </a:r>
            <a:r>
              <a:rPr lang="en-US" altLang="ko-KR"/>
              <a:t>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/>
          </a:p>
          <a:p>
            <a:r>
              <a:rPr lang="ko-KR" altLang="en-US" b="1"/>
              <a:t>오류 양상이 모델별로 꽤 달라서</a:t>
            </a:r>
            <a:r>
              <a:rPr lang="en-US" altLang="ko-KR" b="1"/>
              <a:t>, </a:t>
            </a:r>
            <a:r>
              <a:rPr lang="ko-KR" altLang="en-US" b="1"/>
              <a:t>이들이 상호 보완적</a:t>
            </a:r>
            <a:r>
              <a:rPr lang="ko-KR" altLang="en-US"/>
              <a:t>이라는 사실을 시각적으로 보여주는 도표입니다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21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DD6B683-778D-7B0C-BB9B-147110DB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4910EEC6-C31E-3E98-1864-961E81F4F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B333C9BD-AEB8-7E6A-D2C5-F6037FD01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7718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32EA8A1-502E-CC7C-C8FD-49748790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E2544239-965A-B889-E55F-2CF8D28C5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5909B983-2326-69AC-DF4E-45C12C1DC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853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93862FC-9410-C689-2254-C9401213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03B25271-C932-57D0-47D1-898EFEED0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73A88969-934A-21D8-65BF-4F8F33050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2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60BC4FE-AAC3-E043-70BF-A707E22F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AE40ED15-B0A3-8400-B4D0-3EC378436D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F743D9E4-C425-3024-3EFA-9F2AE4FA6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929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A008C92-4BB9-F2DA-6400-FC06D255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36bc343d6_0_169:notes">
            <a:extLst>
              <a:ext uri="{FF2B5EF4-FFF2-40B4-BE49-F238E27FC236}">
                <a16:creationId xmlns:a16="http://schemas.microsoft.com/office/drawing/2014/main" id="{82D70EBD-1D25-B32C-C62E-499299FDB8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36bc343d6_0_169:notes">
            <a:extLst>
              <a:ext uri="{FF2B5EF4-FFF2-40B4-BE49-F238E27FC236}">
                <a16:creationId xmlns:a16="http://schemas.microsoft.com/office/drawing/2014/main" id="{2C6B7AB3-2373-D3AA-175F-AF4440954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6197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f36bc343d6_0_1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f36bc343d6_0_1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11700" y="1059000"/>
            <a:ext cx="8520600" cy="3025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20925" y="1981854"/>
            <a:ext cx="86880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700" b="1">
                <a:latin typeface="Proxima Nova"/>
                <a:ea typeface="Proxima Nova"/>
                <a:cs typeface="Proxima Nova"/>
                <a:sym typeface="Proxima Nova"/>
              </a:rPr>
              <a:t>Paper Review : MCI AD Classify</a:t>
            </a:r>
            <a:endParaRPr sz="27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04625" y="3095400"/>
            <a:ext cx="8520600" cy="9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ore-KR" altLang="en-US" sz="1500"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0">
                <a:latin typeface="Proxima Nova"/>
                <a:ea typeface="Proxima Nova"/>
                <a:cs typeface="Proxima Nova"/>
                <a:sym typeface="Proxima Nova"/>
              </a:rPr>
              <a:t>2025/02/28 CILAB-Seminar</a:t>
            </a:r>
            <a:endParaRPr lang="en-US" sz="159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78800" y="2629920"/>
            <a:ext cx="81864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13"/>
          <p:cNvCxnSpPr/>
          <p:nvPr/>
        </p:nvCxnSpPr>
        <p:spPr>
          <a:xfrm>
            <a:off x="478800" y="2699620"/>
            <a:ext cx="81864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3"/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638923" y="4816416"/>
            <a:ext cx="256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 </a:t>
            </a:r>
            <a:r>
              <a:rPr lang="en-US" altLang="ko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SeokBeom Lim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235500" y="40383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420" dirty="0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Contents</a:t>
            </a:r>
            <a:endParaRPr sz="342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311700" y="1017720"/>
            <a:ext cx="8186400" cy="69700"/>
            <a:chOff x="311700" y="1017720"/>
            <a:chExt cx="8186400" cy="69700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0;p14"/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88099-45C2-0558-D944-CA209A1C2ACE}"/>
              </a:ext>
            </a:extLst>
          </p:cNvPr>
          <p:cNvSpPr txBox="1"/>
          <p:nvPr/>
        </p:nvSpPr>
        <p:spPr>
          <a:xfrm>
            <a:off x="191620" y="1541423"/>
            <a:ext cx="8641987" cy="2642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romanUcPeriod"/>
            </a:pPr>
            <a:r>
              <a:rPr lang="en-US" altLang="ko-KR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br>
              <a:rPr lang="en-US" altLang="ko-KR" sz="2000" dirty="0">
                <a:latin typeface="Proxima Nova Extrabold" panose="020B0600000101010101" charset="0"/>
              </a:rPr>
            </a:br>
            <a:endParaRPr lang="en-US" altLang="ko-KR" sz="2000" dirty="0">
              <a:latin typeface="Proxima Nova Extrabold" panose="020B0600000101010101" charset="0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romanUcPeriod"/>
            </a:pPr>
            <a:r>
              <a:rPr lang="en-US" altLang="ko-KR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br>
              <a:rPr lang="en-US" altLang="ko-KR" sz="2000" dirty="0">
                <a:latin typeface="Proxima Nova Extrabold" panose="020B0600000101010101" charset="0"/>
              </a:rPr>
            </a:br>
            <a:endParaRPr lang="en-US" altLang="ko-KR" sz="2000" dirty="0">
              <a:latin typeface="Proxima Nova Extrabold" panose="020B0600000101010101" charset="0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romanUcPeriod"/>
            </a:pPr>
            <a:r>
              <a:rPr lang="en-US" altLang="ko-KR" sz="2000" b="1">
                <a:latin typeface="Proxima Nova" panose="020B0600000101010101" charset="0"/>
              </a:rPr>
              <a:t>Results of Project</a:t>
            </a:r>
            <a:endParaRPr lang="en-US" altLang="ko-KR" sz="2000" b="1" dirty="0">
              <a:latin typeface="Proxima Nova" panose="020B0600000101010101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A6ECB2F-4153-D331-A04F-C579CAA5B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C8F06E0B-B73C-F411-B7A4-72B63F214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8" y="1134118"/>
            <a:ext cx="101493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 BERT or Not To BERT: Comparing Speech and Language-based Approaches for Alzheimers Disease Detection</a:t>
            </a:r>
            <a:endParaRPr lang="en-US" sz="1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1BD679E1-F3E2-0127-F3A4-71E6AC9E19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3E557208-5BA9-4E44-E716-0159955E978B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55A591DE-0C44-DDCC-FA59-8AD009F7EA97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00601E5B-F7A1-2128-7BE6-044DAFA8F2FA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7BD45DA3-827E-1A8B-4FB7-DD8E930B21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63B1E3EE-3134-DD0E-C15C-E502D2C6FD1C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" name="모서리가 둥근 직사각형 7">
            <a:extLst>
              <a:ext uri="{FF2B5EF4-FFF2-40B4-BE49-F238E27FC236}">
                <a16:creationId xmlns:a16="http://schemas.microsoft.com/office/drawing/2014/main" id="{385C394F-A81E-E2D8-0372-CD4791583895}"/>
              </a:ext>
            </a:extLst>
          </p:cNvPr>
          <p:cNvSpPr/>
          <p:nvPr/>
        </p:nvSpPr>
        <p:spPr>
          <a:xfrm>
            <a:off x="887632" y="2003883"/>
            <a:ext cx="3598876" cy="171651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Published 20/07/26</a:t>
            </a:r>
          </a:p>
          <a:p>
            <a:pPr algn="ctr"/>
            <a:endParaRPr kumimoji="1" lang="en-US" altLang="en-US" sz="1300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Citation : 175</a:t>
            </a:r>
          </a:p>
          <a:p>
            <a:pPr algn="ctr"/>
            <a:endParaRPr kumimoji="1" lang="en-US" altLang="en-US" sz="1300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Impact Factor (2020) : 3.8</a:t>
            </a:r>
          </a:p>
          <a:p>
            <a:pPr algn="ctr"/>
            <a:endParaRPr kumimoji="1" lang="en-US" altLang="en-US" sz="1300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h-5-index : 111</a:t>
            </a:r>
            <a:endParaRPr kumimoji="1" lang="ko-Kore-KR" altLang="en-US" sz="1300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3" name="Google Shape;87;p16">
            <a:extLst>
              <a:ext uri="{FF2B5EF4-FFF2-40B4-BE49-F238E27FC236}">
                <a16:creationId xmlns:a16="http://schemas.microsoft.com/office/drawing/2014/main" id="{10440E3F-B24D-8D89-10BA-8DE33580BC68}"/>
              </a:ext>
            </a:extLst>
          </p:cNvPr>
          <p:cNvSpPr txBox="1">
            <a:spLocks/>
          </p:cNvSpPr>
          <p:nvPr/>
        </p:nvSpPr>
        <p:spPr>
          <a:xfrm>
            <a:off x="511131" y="4162390"/>
            <a:ext cx="805111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en-US" altLang="ko-KR" sz="1200">
                <a:latin typeface="Proxima Nova Extrabold" panose="020B0600000101010101" charset="0"/>
              </a:rPr>
              <a:t>Aparna Balagopalan, Benjamin Eyre, Frank Rudzicz, Jekaterina Novikova</a:t>
            </a:r>
            <a:endParaRPr lang="en-US" sz="12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2050" name="Picture 2" descr="INTERSPEECH 2020 - ART-AI">
            <a:extLst>
              <a:ext uri="{FF2B5EF4-FFF2-40B4-BE49-F238E27FC236}">
                <a16:creationId xmlns:a16="http://schemas.microsoft.com/office/drawing/2014/main" id="{567340E9-C948-E7C6-8519-A31B3B320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504" y="2335253"/>
            <a:ext cx="3355596" cy="107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07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8DDE2D06-10CB-753C-51BD-DFF7D250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CDA67ECF-FA92-3DE9-3856-D3CDED421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Background and Objective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CBE96895-2022-D104-AA41-A2018A2BD6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86586A36-3783-7947-185B-C7324222B921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D1693B7F-38A8-10CD-DD22-5630E4044429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369A417F-96AC-D5DC-8038-F51054E4FE72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4029A4C6-D316-7041-92B4-35EADEBFE6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4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3EAA9159-B322-BF2C-054A-3E636C5086E3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7D2DAC1-3BD2-5EB0-98A2-196CE77AEF4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307904" y="4065337"/>
            <a:ext cx="72524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7">
            <a:extLst>
              <a:ext uri="{FF2B5EF4-FFF2-40B4-BE49-F238E27FC236}">
                <a16:creationId xmlns:a16="http://schemas.microsoft.com/office/drawing/2014/main" id="{9C84DFF3-379E-3488-1485-58DDA3E611F9}"/>
              </a:ext>
            </a:extLst>
          </p:cNvPr>
          <p:cNvSpPr/>
          <p:nvPr/>
        </p:nvSpPr>
        <p:spPr>
          <a:xfrm>
            <a:off x="1136103" y="2199283"/>
            <a:ext cx="2731221" cy="5727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Domain knowledge-based Feature engineering</a:t>
            </a:r>
          </a:p>
        </p:txBody>
      </p:sp>
      <p:sp>
        <p:nvSpPr>
          <p:cNvPr id="4" name="모서리가 둥근 직사각형 7">
            <a:extLst>
              <a:ext uri="{FF2B5EF4-FFF2-40B4-BE49-F238E27FC236}">
                <a16:creationId xmlns:a16="http://schemas.microsoft.com/office/drawing/2014/main" id="{6CBD4A63-FB79-4C94-1F36-5C9D38FD2D9C}"/>
              </a:ext>
            </a:extLst>
          </p:cNvPr>
          <p:cNvSpPr/>
          <p:nvPr/>
        </p:nvSpPr>
        <p:spPr>
          <a:xfrm>
            <a:off x="1136103" y="2922703"/>
            <a:ext cx="2731221" cy="5727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Specific linguistic and acoustic feature</a:t>
            </a:r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4CE2D28F-9B84-2431-2866-C497F0E6CC30}"/>
              </a:ext>
            </a:extLst>
          </p:cNvPr>
          <p:cNvSpPr/>
          <p:nvPr/>
        </p:nvSpPr>
        <p:spPr>
          <a:xfrm>
            <a:off x="1136103" y="3646124"/>
            <a:ext cx="2731221" cy="5727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Pre-trained BERT, Conventional ML</a:t>
            </a:r>
          </a:p>
        </p:txBody>
      </p:sp>
      <p:sp>
        <p:nvSpPr>
          <p:cNvPr id="10" name="모서리가 둥근 직사각형 7">
            <a:extLst>
              <a:ext uri="{FF2B5EF4-FFF2-40B4-BE49-F238E27FC236}">
                <a16:creationId xmlns:a16="http://schemas.microsoft.com/office/drawing/2014/main" id="{9EF5FD2D-B7D8-9D74-A9AE-F5F0C336B885}"/>
              </a:ext>
            </a:extLst>
          </p:cNvPr>
          <p:cNvSpPr/>
          <p:nvPr/>
        </p:nvSpPr>
        <p:spPr>
          <a:xfrm>
            <a:off x="5033149" y="3778987"/>
            <a:ext cx="2731221" cy="5727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Classify patient AD or not</a:t>
            </a:r>
          </a:p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MMSE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AE2790-1702-D116-A85B-627575D0AA8F}"/>
              </a:ext>
            </a:extLst>
          </p:cNvPr>
          <p:cNvSpPr/>
          <p:nvPr/>
        </p:nvSpPr>
        <p:spPr>
          <a:xfrm>
            <a:off x="864065" y="2052961"/>
            <a:ext cx="3443839" cy="2302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3486747-7070-695C-FBB1-96F2ADAE4E19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>
            <a:off x="6392410" y="3124127"/>
            <a:ext cx="6350" cy="6548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08A994-EF15-2DBF-75B5-FEC66073F68F}"/>
              </a:ext>
            </a:extLst>
          </p:cNvPr>
          <p:cNvSpPr/>
          <p:nvPr/>
        </p:nvSpPr>
        <p:spPr>
          <a:xfrm>
            <a:off x="4781727" y="2052961"/>
            <a:ext cx="3221366" cy="10711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" name="모서리가 둥근 직사각형 7">
            <a:extLst>
              <a:ext uri="{FF2B5EF4-FFF2-40B4-BE49-F238E27FC236}">
                <a16:creationId xmlns:a16="http://schemas.microsoft.com/office/drawing/2014/main" id="{93825526-7618-2D1C-6E28-EA1F2F51E3FE}"/>
              </a:ext>
            </a:extLst>
          </p:cNvPr>
          <p:cNvSpPr/>
          <p:nvPr/>
        </p:nvSpPr>
        <p:spPr>
          <a:xfrm>
            <a:off x="5026799" y="2291270"/>
            <a:ext cx="2731221" cy="5727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Neuropsychological examination, an imaging examination</a:t>
            </a: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AA24B70D-C806-57DC-6A6D-468C2515DD65}"/>
              </a:ext>
            </a:extLst>
          </p:cNvPr>
          <p:cNvSpPr/>
          <p:nvPr/>
        </p:nvSpPr>
        <p:spPr>
          <a:xfrm>
            <a:off x="6226784" y="3281432"/>
            <a:ext cx="343949" cy="305225"/>
          </a:xfrm>
          <a:prstGeom prst="mathMultiply">
            <a:avLst>
              <a:gd name="adj1" fmla="val 428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94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735A7ED-E6FF-1A2D-C5CB-88DDDEC3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581EE512-CDE8-5BBD-B3D6-DDBE6EB4D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51BA2BCC-D50C-C40B-0AD7-A231C4534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B1440917-889A-7142-3B5F-7755436BDC9C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3B78E8BE-9395-9DD6-CCCE-95AE4F377827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9E974F0F-0809-9FE8-45BC-6A91E0751B88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3B30D051-D0BC-A6BC-FB4D-B53F02DA5C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5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A7223F74-AE31-7C92-EA29-36EDD8914CF2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" name="모서리가 둥근 직사각형 7">
            <a:extLst>
              <a:ext uri="{FF2B5EF4-FFF2-40B4-BE49-F238E27FC236}">
                <a16:creationId xmlns:a16="http://schemas.microsoft.com/office/drawing/2014/main" id="{BAE37858-E0B6-5318-9949-8D0F6C1920C0}"/>
              </a:ext>
            </a:extLst>
          </p:cNvPr>
          <p:cNvSpPr/>
          <p:nvPr/>
        </p:nvSpPr>
        <p:spPr>
          <a:xfrm>
            <a:off x="4237326" y="1821706"/>
            <a:ext cx="4084552" cy="247363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5" name="모서리가 둥근 직사각형 7">
            <a:extLst>
              <a:ext uri="{FF2B5EF4-FFF2-40B4-BE49-F238E27FC236}">
                <a16:creationId xmlns:a16="http://schemas.microsoft.com/office/drawing/2014/main" id="{CE1591EA-6A9C-17B2-CCF6-17F8B7484ACD}"/>
              </a:ext>
            </a:extLst>
          </p:cNvPr>
          <p:cNvSpPr/>
          <p:nvPr/>
        </p:nvSpPr>
        <p:spPr>
          <a:xfrm>
            <a:off x="695797" y="3335472"/>
            <a:ext cx="3279496" cy="555171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ADReSS Challenge, organized by the INTERSPEECH 2020</a:t>
            </a:r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0B73F494-8180-3FD2-EFD8-4F49F5ED102A}"/>
              </a:ext>
            </a:extLst>
          </p:cNvPr>
          <p:cNvSpPr/>
          <p:nvPr/>
        </p:nvSpPr>
        <p:spPr>
          <a:xfrm>
            <a:off x="4237326" y="2041132"/>
            <a:ext cx="4084553" cy="225421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Metadata : AD-positive or healthy</a:t>
            </a:r>
          </a:p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Data</a:t>
            </a:r>
            <a:r>
              <a:rPr kumimoji="1" lang="ko-KR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 </a:t>
            </a:r>
            <a:r>
              <a:rPr kumimoji="1" lang="en-US" altLang="ko-KR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:</a:t>
            </a:r>
            <a:r>
              <a:rPr kumimoji="1" lang="ko-KR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 </a:t>
            </a:r>
            <a:r>
              <a:rPr kumimoji="1" lang="en-US" altLang="ko-KR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156 (AD : 78, HC : 78)</a:t>
            </a:r>
            <a:endParaRPr kumimoji="1" lang="en-US" altLang="en-US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Audio Files, Text Transcripts</a:t>
            </a:r>
          </a:p>
          <a:p>
            <a:pPr algn="ctr"/>
            <a:endParaRPr kumimoji="1" lang="en-US" altLang="en-US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endParaRPr kumimoji="1" lang="en-US" altLang="en-US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Participants describe the Cookie Theft picture from the Boston Diagnostic Aphasia Examination ( Speech-based AD detection )</a:t>
            </a:r>
          </a:p>
          <a:p>
            <a:pPr algn="ctr"/>
            <a:endParaRPr kumimoji="1" lang="en-US" altLang="en-US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endParaRPr kumimoji="1" lang="en-US" altLang="en-US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05CDAF0-0A0E-76EF-5654-D9A3229722BA}"/>
              </a:ext>
            </a:extLst>
          </p:cNvPr>
          <p:cNvSpPr/>
          <p:nvPr/>
        </p:nvSpPr>
        <p:spPr>
          <a:xfrm>
            <a:off x="1291345" y="2327751"/>
            <a:ext cx="2191864" cy="79279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ADReSS Challenge Dataset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077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D250C25-A45B-6CB9-2BC1-426F028ED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6C31DE63-561C-5FDB-AB88-C9B77A319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Lexico-syntactic (297)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293E04D4-00F6-1C81-53F5-30CB69CB6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5454684E-E020-9133-646F-C829022AD7D6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5903BEBA-5401-56E9-5B94-D88B205995CC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9E143CAE-8CE0-ED46-DEC3-0DBC06C2EF2B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FACEE360-4BA3-DDCE-EA21-397A68DBCF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D819737-B964-505A-102C-8507DF0A43DA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3" name="모서리가 둥근 직사각형 7">
            <a:extLst>
              <a:ext uri="{FF2B5EF4-FFF2-40B4-BE49-F238E27FC236}">
                <a16:creationId xmlns:a16="http://schemas.microsoft.com/office/drawing/2014/main" id="{DAA8F59F-4C85-3785-B6A8-6505458740F9}"/>
              </a:ext>
            </a:extLst>
          </p:cNvPr>
          <p:cNvSpPr/>
          <p:nvPr/>
        </p:nvSpPr>
        <p:spPr>
          <a:xfrm>
            <a:off x="298507" y="2386997"/>
            <a:ext cx="1477023" cy="70834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Dataset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4" name="모서리가 둥근 직사각형 7">
            <a:extLst>
              <a:ext uri="{FF2B5EF4-FFF2-40B4-BE49-F238E27FC236}">
                <a16:creationId xmlns:a16="http://schemas.microsoft.com/office/drawing/2014/main" id="{E7F0F9BD-B5B5-BFDE-9321-786B050942EA}"/>
              </a:ext>
            </a:extLst>
          </p:cNvPr>
          <p:cNvSpPr/>
          <p:nvPr/>
        </p:nvSpPr>
        <p:spPr>
          <a:xfrm>
            <a:off x="2390953" y="2247659"/>
            <a:ext cx="1955397" cy="7779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Production rule frequencies from constituency parse trees</a:t>
            </a:r>
          </a:p>
        </p:txBody>
      </p:sp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DEDA82C6-6AAB-8E86-1631-5439D7DC9848}"/>
              </a:ext>
            </a:extLst>
          </p:cNvPr>
          <p:cNvSpPr/>
          <p:nvPr/>
        </p:nvSpPr>
        <p:spPr>
          <a:xfrm>
            <a:off x="2414951" y="3245948"/>
            <a:ext cx="1931399" cy="72873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Speech-graph metrics (e.g., graph density)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219224-9945-0C78-CF77-5DEE6A0F787B}"/>
              </a:ext>
            </a:extLst>
          </p:cNvPr>
          <p:cNvSpPr/>
          <p:nvPr/>
        </p:nvSpPr>
        <p:spPr>
          <a:xfrm>
            <a:off x="2169812" y="1949986"/>
            <a:ext cx="6494127" cy="2302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A7CE5C7-6142-679E-F7EA-6F56E5594F17}"/>
              </a:ext>
            </a:extLst>
          </p:cNvPr>
          <p:cNvCxnSpPr>
            <a:cxnSpLocks/>
          </p:cNvCxnSpPr>
          <p:nvPr/>
        </p:nvCxnSpPr>
        <p:spPr>
          <a:xfrm>
            <a:off x="1775530" y="2747712"/>
            <a:ext cx="39428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7">
            <a:extLst>
              <a:ext uri="{FF2B5EF4-FFF2-40B4-BE49-F238E27FC236}">
                <a16:creationId xmlns:a16="http://schemas.microsoft.com/office/drawing/2014/main" id="{99F9CC5C-5AE6-298C-F52B-C8127347C26B}"/>
              </a:ext>
            </a:extLst>
          </p:cNvPr>
          <p:cNvSpPr/>
          <p:nvPr/>
        </p:nvSpPr>
        <p:spPr>
          <a:xfrm>
            <a:off x="4499334" y="2247659"/>
            <a:ext cx="1955397" cy="7779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Lexical norm metrics (e.g., familiarity, imageability)</a:t>
            </a:r>
          </a:p>
        </p:txBody>
      </p:sp>
      <p:sp>
        <p:nvSpPr>
          <p:cNvPr id="17" name="모서리가 둥근 직사각형 7">
            <a:extLst>
              <a:ext uri="{FF2B5EF4-FFF2-40B4-BE49-F238E27FC236}">
                <a16:creationId xmlns:a16="http://schemas.microsoft.com/office/drawing/2014/main" id="{9AC7B525-FABE-2194-10F5-0D6710FD5A70}"/>
              </a:ext>
            </a:extLst>
          </p:cNvPr>
          <p:cNvSpPr/>
          <p:nvPr/>
        </p:nvSpPr>
        <p:spPr>
          <a:xfrm>
            <a:off x="4523332" y="3245948"/>
            <a:ext cx="1931399" cy="72873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Part-of-speech tag proportions (e.g., pronoun ratio)</a:t>
            </a:r>
          </a:p>
        </p:txBody>
      </p:sp>
      <p:sp>
        <p:nvSpPr>
          <p:cNvPr id="18" name="모서리가 둥근 직사각형 7">
            <a:extLst>
              <a:ext uri="{FF2B5EF4-FFF2-40B4-BE49-F238E27FC236}">
                <a16:creationId xmlns:a16="http://schemas.microsoft.com/office/drawing/2014/main" id="{EC8F9092-7F54-D72F-FF8B-1D644A836472}"/>
              </a:ext>
            </a:extLst>
          </p:cNvPr>
          <p:cNvSpPr/>
          <p:nvPr/>
        </p:nvSpPr>
        <p:spPr>
          <a:xfrm>
            <a:off x="6549960" y="2247659"/>
            <a:ext cx="1955397" cy="7779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Measures of lexical richness (e.g., type-token ratio)</a:t>
            </a:r>
          </a:p>
        </p:txBody>
      </p:sp>
      <p:sp>
        <p:nvSpPr>
          <p:cNvPr id="19" name="모서리가 둥근 직사각형 7">
            <a:extLst>
              <a:ext uri="{FF2B5EF4-FFF2-40B4-BE49-F238E27FC236}">
                <a16:creationId xmlns:a16="http://schemas.microsoft.com/office/drawing/2014/main" id="{A55FD276-57FE-9880-5DE5-12722B00774C}"/>
              </a:ext>
            </a:extLst>
          </p:cNvPr>
          <p:cNvSpPr/>
          <p:nvPr/>
        </p:nvSpPr>
        <p:spPr>
          <a:xfrm>
            <a:off x="6573958" y="3245948"/>
            <a:ext cx="1931399" cy="72873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Sentence or utterance similarity measures</a:t>
            </a:r>
          </a:p>
        </p:txBody>
      </p:sp>
    </p:spTree>
    <p:extLst>
      <p:ext uri="{BB962C8B-B14F-4D97-AF65-F5344CB8AC3E}">
        <p14:creationId xmlns:p14="http://schemas.microsoft.com/office/powerpoint/2010/main" val="134972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D17E3E8-DD1C-6878-7542-3613D78E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2E38C442-1F11-B969-6682-95DA1BFDA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Detail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72B82314-9F4B-A4A7-34DA-8B5F8484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500">
                <a:latin typeface="Proxima Nova Extrabold" panose="020B0600000101010101" charset="0"/>
              </a:rPr>
              <a:t>Result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BAC92EDD-4CD3-636E-1F6C-9B96CF214683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FB48E0D6-82B0-D5EC-36C0-41CBB093DD6A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71C34CE6-7A06-0A03-A3C9-C6BBD5B20C83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A87F2F37-11CE-0426-B72E-50F18E5287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7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6B29EB00-C81E-85C4-001A-2BFDE3A1CBA0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65A7EF-1F65-0A7E-8356-FD7AE4171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546" y="1502771"/>
            <a:ext cx="6681457" cy="330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60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10E05B2-1A11-E578-E3C6-A4FC3D1AC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1A1D67AA-8C86-C928-03C7-925F2FEDD2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Acoustic features (187)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32113289-2249-5EB0-90A1-7962264714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A03D05A4-59CD-3D1A-755B-5CAA0E1F652B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E0136851-9286-8EC2-A182-8C2757462F59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C9BD5FC7-2B35-C22E-D400-C2E34166BE2F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5BFB9C26-8FC7-EB42-E2DD-EE877FE4F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8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8BBA6BFA-F510-E427-F1E8-4D86FCB6C208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3" name="모서리가 둥근 직사각형 7">
            <a:extLst>
              <a:ext uri="{FF2B5EF4-FFF2-40B4-BE49-F238E27FC236}">
                <a16:creationId xmlns:a16="http://schemas.microsoft.com/office/drawing/2014/main" id="{AB7B63E2-1258-21A3-334A-5030BFBB43D6}"/>
              </a:ext>
            </a:extLst>
          </p:cNvPr>
          <p:cNvSpPr/>
          <p:nvPr/>
        </p:nvSpPr>
        <p:spPr>
          <a:xfrm>
            <a:off x="435667" y="2364137"/>
            <a:ext cx="1477023" cy="70834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Dataset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4" name="모서리가 둥근 직사각형 7">
            <a:extLst>
              <a:ext uri="{FF2B5EF4-FFF2-40B4-BE49-F238E27FC236}">
                <a16:creationId xmlns:a16="http://schemas.microsoft.com/office/drawing/2014/main" id="{120B7F3F-5BCE-9F14-8E79-F446541DE811}"/>
              </a:ext>
            </a:extLst>
          </p:cNvPr>
          <p:cNvSpPr/>
          <p:nvPr/>
        </p:nvSpPr>
        <p:spPr>
          <a:xfrm>
            <a:off x="2528113" y="2224799"/>
            <a:ext cx="2731221" cy="7779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Mel-frequency cepstral coefficients (MFCCs) and their statistic</a:t>
            </a:r>
          </a:p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( mean, var, skewness, kurtosis )</a:t>
            </a:r>
          </a:p>
        </p:txBody>
      </p:sp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F05D7B85-C1AF-AB6A-E42A-123F83D0FE16}"/>
              </a:ext>
            </a:extLst>
          </p:cNvPr>
          <p:cNvSpPr/>
          <p:nvPr/>
        </p:nvSpPr>
        <p:spPr>
          <a:xfrm>
            <a:off x="2552111" y="3223088"/>
            <a:ext cx="2731221" cy="72873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Fundamental frequency metrics</a:t>
            </a:r>
          </a:p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( min, max, avg )</a:t>
            </a:r>
          </a:p>
        </p:txBody>
      </p:sp>
      <p:sp>
        <p:nvSpPr>
          <p:cNvPr id="9" name="모서리가 둥근 직사각형 7">
            <a:extLst>
              <a:ext uri="{FF2B5EF4-FFF2-40B4-BE49-F238E27FC236}">
                <a16:creationId xmlns:a16="http://schemas.microsoft.com/office/drawing/2014/main" id="{AC999BB5-EED7-AB78-CBE9-D9D707AEB6BA}"/>
              </a:ext>
            </a:extLst>
          </p:cNvPr>
          <p:cNvSpPr/>
          <p:nvPr/>
        </p:nvSpPr>
        <p:spPr>
          <a:xfrm>
            <a:off x="5480474" y="3223088"/>
            <a:ext cx="2731221" cy="75491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Pause-related features</a:t>
            </a:r>
          </a:p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(long pauses, short pauses, pause-to-word ratio)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22D060-A3DF-019E-7635-9543A6FE9CFD}"/>
              </a:ext>
            </a:extLst>
          </p:cNvPr>
          <p:cNvSpPr/>
          <p:nvPr/>
        </p:nvSpPr>
        <p:spPr>
          <a:xfrm>
            <a:off x="2306973" y="1927126"/>
            <a:ext cx="6090406" cy="2302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BB581A2-E4EB-62A0-A946-22C9122D27A0}"/>
              </a:ext>
            </a:extLst>
          </p:cNvPr>
          <p:cNvCxnSpPr>
            <a:cxnSpLocks/>
          </p:cNvCxnSpPr>
          <p:nvPr/>
        </p:nvCxnSpPr>
        <p:spPr>
          <a:xfrm>
            <a:off x="1912690" y="2724852"/>
            <a:ext cx="39428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7">
            <a:extLst>
              <a:ext uri="{FF2B5EF4-FFF2-40B4-BE49-F238E27FC236}">
                <a16:creationId xmlns:a16="http://schemas.microsoft.com/office/drawing/2014/main" id="{FD87EFAB-5377-8318-27E8-FF3921D156DF}"/>
              </a:ext>
            </a:extLst>
          </p:cNvPr>
          <p:cNvSpPr/>
          <p:nvPr/>
        </p:nvSpPr>
        <p:spPr>
          <a:xfrm>
            <a:off x="5480474" y="2224800"/>
            <a:ext cx="2731221" cy="77798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2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Zero-crossing rate statistics</a:t>
            </a:r>
          </a:p>
        </p:txBody>
      </p:sp>
    </p:spTree>
    <p:extLst>
      <p:ext uri="{BB962C8B-B14F-4D97-AF65-F5344CB8AC3E}">
        <p14:creationId xmlns:p14="http://schemas.microsoft.com/office/powerpoint/2010/main" val="1578647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50FA3A4-9E49-1F33-C2BF-21F98DC72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2A4FA8F3-2164-FD08-13EC-9A55CCD6C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Sementic Features (25)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F7F71787-2EE4-CB64-76F0-C4C413626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177B4E2D-5F0D-8396-54C0-A9835F191CE4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12B58C8C-DD36-9962-500D-38CC8ECB0F69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43425D5A-C38A-056D-3682-D2408DFABE7C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BC68DB5C-21E2-F2B4-81E8-5130AB55DC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9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0EA6ED0E-EB56-1579-C09B-26D4EBFF0F61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3" name="모서리가 둥근 직사각형 7">
            <a:extLst>
              <a:ext uri="{FF2B5EF4-FFF2-40B4-BE49-F238E27FC236}">
                <a16:creationId xmlns:a16="http://schemas.microsoft.com/office/drawing/2014/main" id="{17C9AE52-7B5E-9CF7-AB4F-B28438E625E3}"/>
              </a:ext>
            </a:extLst>
          </p:cNvPr>
          <p:cNvSpPr/>
          <p:nvPr/>
        </p:nvSpPr>
        <p:spPr>
          <a:xfrm>
            <a:off x="939006" y="2221525"/>
            <a:ext cx="1477023" cy="70834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Dataset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DE4E8BA-29B6-8A53-05B3-26453276F3F0}"/>
              </a:ext>
            </a:extLst>
          </p:cNvPr>
          <p:cNvCxnSpPr>
            <a:cxnSpLocks/>
          </p:cNvCxnSpPr>
          <p:nvPr/>
        </p:nvCxnSpPr>
        <p:spPr>
          <a:xfrm>
            <a:off x="2449943" y="2563362"/>
            <a:ext cx="114837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7">
            <a:extLst>
              <a:ext uri="{FF2B5EF4-FFF2-40B4-BE49-F238E27FC236}">
                <a16:creationId xmlns:a16="http://schemas.microsoft.com/office/drawing/2014/main" id="{7D4EC8F4-C69C-28C2-D35F-F8D4BFB42B30}"/>
              </a:ext>
            </a:extLst>
          </p:cNvPr>
          <p:cNvSpPr/>
          <p:nvPr/>
        </p:nvSpPr>
        <p:spPr>
          <a:xfrm>
            <a:off x="3598316" y="2253347"/>
            <a:ext cx="1477023" cy="70834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Embedding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15" name="모서리가 둥근 직사각형 7">
            <a:extLst>
              <a:ext uri="{FF2B5EF4-FFF2-40B4-BE49-F238E27FC236}">
                <a16:creationId xmlns:a16="http://schemas.microsoft.com/office/drawing/2014/main" id="{7534DC5D-695F-1ECF-4713-03F772C96182}"/>
              </a:ext>
            </a:extLst>
          </p:cNvPr>
          <p:cNvSpPr/>
          <p:nvPr/>
        </p:nvSpPr>
        <p:spPr>
          <a:xfrm>
            <a:off x="6555904" y="2221525"/>
            <a:ext cx="1144831" cy="70834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Float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16" name="모서리가 둥근 직사각형 7">
            <a:extLst>
              <a:ext uri="{FF2B5EF4-FFF2-40B4-BE49-F238E27FC236}">
                <a16:creationId xmlns:a16="http://schemas.microsoft.com/office/drawing/2014/main" id="{0150AEFE-F219-56C7-9D4C-5FABE98619BA}"/>
              </a:ext>
            </a:extLst>
          </p:cNvPr>
          <p:cNvSpPr/>
          <p:nvPr/>
        </p:nvSpPr>
        <p:spPr>
          <a:xfrm>
            <a:off x="3598316" y="3502946"/>
            <a:ext cx="1477023" cy="70834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Content unit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3009FE0-D9B3-F7D4-5B12-87DC7E724DDE}"/>
              </a:ext>
            </a:extLst>
          </p:cNvPr>
          <p:cNvCxnSpPr>
            <a:cxnSpLocks/>
          </p:cNvCxnSpPr>
          <p:nvPr/>
        </p:nvCxnSpPr>
        <p:spPr>
          <a:xfrm>
            <a:off x="5613034" y="2563362"/>
            <a:ext cx="9052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7">
            <a:extLst>
              <a:ext uri="{FF2B5EF4-FFF2-40B4-BE49-F238E27FC236}">
                <a16:creationId xmlns:a16="http://schemas.microsoft.com/office/drawing/2014/main" id="{44E1A297-CC81-28E1-1E18-DB0993C51156}"/>
              </a:ext>
            </a:extLst>
          </p:cNvPr>
          <p:cNvSpPr/>
          <p:nvPr/>
        </p:nvSpPr>
        <p:spPr>
          <a:xfrm>
            <a:off x="3077006" y="2991144"/>
            <a:ext cx="1406504" cy="482350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9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Cosine Distance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6C52E11-7347-08C6-60F4-76E75739773E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4336828" y="2961692"/>
            <a:ext cx="0" cy="54125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07FCEC7-A2C4-67EF-67CF-EC281D8F0515}"/>
              </a:ext>
            </a:extLst>
          </p:cNvPr>
          <p:cNvSpPr/>
          <p:nvPr/>
        </p:nvSpPr>
        <p:spPr>
          <a:xfrm>
            <a:off x="2985595" y="1968915"/>
            <a:ext cx="2627439" cy="2551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03814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04408A6-1819-456E-AF15-E613B32E9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0BD9A629-4815-6066-1515-12996EFE6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Detail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CB599EC5-C6A6-D4ED-A597-C6EE11CFA8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500">
                <a:latin typeface="Proxima Nova Extrabold" panose="020B0600000101010101" charset="0"/>
              </a:rPr>
              <a:t>Result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66FA52BD-440F-3199-F196-A93042EC48F1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5A3BD253-CEE6-9935-728A-616115173286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B64FE722-64DE-1878-CCC3-8F8F70901342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84C42C67-2E26-AB9B-68C1-489E5C115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10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DD480C92-8BE8-7834-795C-5BD1B6D5AA8A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D9FDE3-99E7-B442-B6C6-B33471C0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18" y="1107753"/>
            <a:ext cx="6797040" cy="18436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9C5892B-7532-8E59-EBF4-A9D8380E4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990" y="3080307"/>
            <a:ext cx="6797040" cy="114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7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130EF9A-E500-376B-1AD9-BDEF01F0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A0B06814-FAB0-A35B-B7DC-529F7759D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Machine Learning Models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CB2B6B20-19D8-A0C3-E9CD-9C6AE4B939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1B082EE1-EE18-D0CE-7792-514386823F57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8DFC4AA4-69DA-7D15-6C00-4091B0E811A7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2DE98274-3F0F-AAEC-EFEA-3649A34E56CD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BCADE4FC-81E4-8105-590D-418B730996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11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1DC43284-7CAD-B288-6275-BD8E3D52B2D7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" name="모서리가 둥근 직사각형 7">
            <a:extLst>
              <a:ext uri="{FF2B5EF4-FFF2-40B4-BE49-F238E27FC236}">
                <a16:creationId xmlns:a16="http://schemas.microsoft.com/office/drawing/2014/main" id="{59D8AFC0-94CB-A491-B47E-40BE3B765B97}"/>
              </a:ext>
            </a:extLst>
          </p:cNvPr>
          <p:cNvSpPr/>
          <p:nvPr/>
        </p:nvSpPr>
        <p:spPr>
          <a:xfrm>
            <a:off x="1063509" y="2388919"/>
            <a:ext cx="3171529" cy="1865939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SVM (Support Vector Machine)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NN (Neural Network)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RF (Random Forest)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NB (Naïve Bayes)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en-US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4" name="모서리가 둥근 직사각형 7">
            <a:extLst>
              <a:ext uri="{FF2B5EF4-FFF2-40B4-BE49-F238E27FC236}">
                <a16:creationId xmlns:a16="http://schemas.microsoft.com/office/drawing/2014/main" id="{2812D3C3-A4B9-C6CB-9554-59A8DE0C705A}"/>
              </a:ext>
            </a:extLst>
          </p:cNvPr>
          <p:cNvSpPr/>
          <p:nvPr/>
        </p:nvSpPr>
        <p:spPr>
          <a:xfrm>
            <a:off x="1800021" y="1788369"/>
            <a:ext cx="1345851" cy="44617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Classify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5" name="모서리가 둥근 직사각형 7">
            <a:extLst>
              <a:ext uri="{FF2B5EF4-FFF2-40B4-BE49-F238E27FC236}">
                <a16:creationId xmlns:a16="http://schemas.microsoft.com/office/drawing/2014/main" id="{C52A71F5-229F-F2ED-70C1-FCF661D90C56}"/>
              </a:ext>
            </a:extLst>
          </p:cNvPr>
          <p:cNvSpPr/>
          <p:nvPr/>
        </p:nvSpPr>
        <p:spPr>
          <a:xfrm>
            <a:off x="5491177" y="1788369"/>
            <a:ext cx="1345851" cy="44617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Regression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EE069FA1-42E0-19A4-9B8C-D5C526995E13}"/>
              </a:ext>
            </a:extLst>
          </p:cNvPr>
          <p:cNvSpPr/>
          <p:nvPr/>
        </p:nvSpPr>
        <p:spPr>
          <a:xfrm>
            <a:off x="4751122" y="1823267"/>
            <a:ext cx="4171811" cy="1865939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Linear Regression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Ridge Regression (L2 regularization)</a:t>
            </a:r>
          </a:p>
        </p:txBody>
      </p:sp>
    </p:spTree>
    <p:extLst>
      <p:ext uri="{BB962C8B-B14F-4D97-AF65-F5344CB8AC3E}">
        <p14:creationId xmlns:p14="http://schemas.microsoft.com/office/powerpoint/2010/main" val="1886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333374F-A149-F704-814F-48199542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34C1E27E-F4F1-F999-32EE-963F22F3E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BERT-based Models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9B43D2E8-0D10-0B31-9FB8-C0A9AE5DC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3147E9FE-CC73-4494-4487-154F6FA755ED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F1F748E6-9E8B-4AC2-DF00-99B32C61F510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C0B830B1-BF69-04A7-3539-6B34F7752F40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BCD9422B-CB23-29C4-2F88-C808EC995F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12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7070CB83-D7EE-53F8-8ED9-0E4E8BAAF9F4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3" name="모서리가 둥근 직사각형 7">
            <a:extLst>
              <a:ext uri="{FF2B5EF4-FFF2-40B4-BE49-F238E27FC236}">
                <a16:creationId xmlns:a16="http://schemas.microsoft.com/office/drawing/2014/main" id="{9CFA923C-3394-E04B-60BA-C18925F62490}"/>
              </a:ext>
            </a:extLst>
          </p:cNvPr>
          <p:cNvSpPr/>
          <p:nvPr/>
        </p:nvSpPr>
        <p:spPr>
          <a:xfrm>
            <a:off x="911619" y="1762785"/>
            <a:ext cx="8520600" cy="2327732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350000"/>
              </a:lnSpc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1. Fine-tuned a pre-trained BERT model for binary classification (AD vs. non-AD).</a:t>
            </a:r>
          </a:p>
          <a:p>
            <a:pPr>
              <a:lnSpc>
                <a:spcPct val="350000"/>
              </a:lnSpc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2. Concatenated each participant’s transcripts into a single text input for BERT.</a:t>
            </a:r>
          </a:p>
          <a:p>
            <a:pPr>
              <a:lnSpc>
                <a:spcPct val="350000"/>
              </a:lnSpc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3. Added a classification head (fully connected layer + softmax) on top of the final BERT layer.</a:t>
            </a:r>
          </a:p>
          <a:p>
            <a:pPr>
              <a:lnSpc>
                <a:spcPct val="350000"/>
              </a:lnSpc>
            </a:pPr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4. Used 10-Fold CV with Adam optimizer and a linear learning-rate scheduler.</a:t>
            </a:r>
          </a:p>
        </p:txBody>
      </p:sp>
    </p:spTree>
    <p:extLst>
      <p:ext uri="{BB962C8B-B14F-4D97-AF65-F5344CB8AC3E}">
        <p14:creationId xmlns:p14="http://schemas.microsoft.com/office/powerpoint/2010/main" val="946919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24B00AB-4D52-6915-43EB-C0A3C890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434D4589-EA8D-AF1E-FA79-7B4248D36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 : Classify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CF24E6AC-3B85-D935-F358-4D41F4FB8B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48C645CD-A64B-3C6F-14BD-A2143E1178DB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4C57AF9A-B09A-E0FF-DA6D-5B0F5AECEA50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E09E92F6-CD45-6FB9-5582-3F31E183A59A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3D622385-6C8A-A647-6436-37E992162D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13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958A4502-9F31-6533-FEE7-F3D0B8C15EBA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3F52F17-FE07-2E37-576F-F5A5844D9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91" y="1821706"/>
            <a:ext cx="6127167" cy="251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68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F3AA225-6859-0DB7-BD6A-AB91E9348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B0015BA2-564B-E61B-C6E7-E9A16D903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 : Regression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4B86D56F-BCA1-7EBD-1116-0BD8AB748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Speech and Language-based Approaches for Alzheimers Disease Detection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B85BE738-9CB8-EE53-D450-9C28C83AEA4C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A221CFE5-9007-F24A-F2CF-AEDA41640417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E8078032-D44B-AB18-1046-5C01465EC49D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6F4091D8-9389-523B-4889-847142E282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14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CB13AE6-5FC2-8CCE-3127-27E7129F0EEB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4D9FEC-B1B3-9D4D-F597-651CC0567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06" y="2038635"/>
            <a:ext cx="5068007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13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8839BF9-6900-1525-B6F5-1F7F7F44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AE899A9A-219F-C156-A88A-203A0503C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8" y="1134118"/>
            <a:ext cx="101493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altLang="ko-KR" sz="1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9BF75630-E067-43A1-3382-B491A95EE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04D08E6C-0332-1699-8EB8-D26B80AC9110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248B8712-462E-E2EC-9B14-569272BABCE6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0645A152-823C-AF17-9F9F-6CC4AC981AFC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8968AC47-1C80-7BFF-DE03-7E4359E454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15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90526BE3-192B-BAFE-03AB-DDE7CC2B1BA1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" name="모서리가 둥근 직사각형 7">
            <a:extLst>
              <a:ext uri="{FF2B5EF4-FFF2-40B4-BE49-F238E27FC236}">
                <a16:creationId xmlns:a16="http://schemas.microsoft.com/office/drawing/2014/main" id="{29FA6E99-D701-B27D-B720-011E7BEA6905}"/>
              </a:ext>
            </a:extLst>
          </p:cNvPr>
          <p:cNvSpPr/>
          <p:nvPr/>
        </p:nvSpPr>
        <p:spPr>
          <a:xfrm>
            <a:off x="1307081" y="2093120"/>
            <a:ext cx="3598876" cy="171651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Published 24/05/06</a:t>
            </a:r>
          </a:p>
          <a:p>
            <a:pPr algn="ctr"/>
            <a:endParaRPr kumimoji="1" lang="en-US" altLang="en-US" sz="1300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Citation : 8</a:t>
            </a:r>
          </a:p>
          <a:p>
            <a:pPr algn="ctr"/>
            <a:endParaRPr kumimoji="1" lang="en-US" altLang="en-US" sz="1300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Impact Factor (2023) : 9.7</a:t>
            </a:r>
          </a:p>
        </p:txBody>
      </p:sp>
      <p:sp>
        <p:nvSpPr>
          <p:cNvPr id="3" name="Google Shape;87;p16">
            <a:extLst>
              <a:ext uri="{FF2B5EF4-FFF2-40B4-BE49-F238E27FC236}">
                <a16:creationId xmlns:a16="http://schemas.microsoft.com/office/drawing/2014/main" id="{A9E54A88-64EC-8876-AAE6-76F19756EE46}"/>
              </a:ext>
            </a:extLst>
          </p:cNvPr>
          <p:cNvSpPr txBox="1">
            <a:spLocks/>
          </p:cNvSpPr>
          <p:nvPr/>
        </p:nvSpPr>
        <p:spPr>
          <a:xfrm>
            <a:off x="555715" y="4194689"/>
            <a:ext cx="805111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en-US" altLang="ko-KR" sz="1200">
                <a:latin typeface="Proxima Nova Extrabold" panose="020B0600000101010101" charset="0"/>
              </a:rPr>
              <a:t>Robert B. Penfold, David S. Carrell, David J. Cronkite, Chester Pabiniak, Tammy Dodd, Ashley MH Glass, Eric Johnson, Ella Thompson, H. Michael Arrighi and Paul E. Stang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C88B9B9-A9DE-98B4-4BD1-2D3C3826E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515" y="2090425"/>
            <a:ext cx="1502526" cy="172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04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FA9C8D9-B7C9-C881-1769-F7F8C2E0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88E372C6-1939-D54A-EC38-8CEA55B998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Sementic Features (25)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32863D3B-9773-B72B-7F8A-3714A7B2BB1C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2C0DE56F-05CB-E09D-CB01-5EC0CF5D0ED5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CFBB9314-3F29-BA03-A7EF-7CDE28ACCF08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DE49FE71-F388-0AF6-59C7-5C744EC3A0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16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BDFBB69D-0726-B160-4128-DB5522319DBB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A163EB00-CD66-F83D-43EC-9A01464574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D11E4731-34C9-7456-6483-C3C361ECDFEF}"/>
              </a:ext>
            </a:extLst>
          </p:cNvPr>
          <p:cNvSpPr/>
          <p:nvPr/>
        </p:nvSpPr>
        <p:spPr>
          <a:xfrm>
            <a:off x="1005077" y="2336426"/>
            <a:ext cx="1150893" cy="57270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LLM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D5B1A3F-6ED4-1E86-A85B-D646526DE147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2155970" y="2621133"/>
            <a:ext cx="343149" cy="16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19BA8D-96A3-FF3E-89D0-63689F9F7BDB}"/>
              </a:ext>
            </a:extLst>
          </p:cNvPr>
          <p:cNvSpPr/>
          <p:nvPr/>
        </p:nvSpPr>
        <p:spPr>
          <a:xfrm>
            <a:off x="872455" y="2242379"/>
            <a:ext cx="2885813" cy="7742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모서리가 둥근 직사각형 7">
            <a:extLst>
              <a:ext uri="{FF2B5EF4-FFF2-40B4-BE49-F238E27FC236}">
                <a16:creationId xmlns:a16="http://schemas.microsoft.com/office/drawing/2014/main" id="{FA77BACA-5031-1518-D78B-1947E68C8D50}"/>
              </a:ext>
            </a:extLst>
          </p:cNvPr>
          <p:cNvSpPr/>
          <p:nvPr/>
        </p:nvSpPr>
        <p:spPr>
          <a:xfrm>
            <a:off x="2499119" y="2334782"/>
            <a:ext cx="1150893" cy="57270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NLP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E4912BE-8A76-1C9E-69F1-52A7D753BE48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 flipH="1">
            <a:off x="2311167" y="3016664"/>
            <a:ext cx="4195" cy="5312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7">
            <a:extLst>
              <a:ext uri="{FF2B5EF4-FFF2-40B4-BE49-F238E27FC236}">
                <a16:creationId xmlns:a16="http://schemas.microsoft.com/office/drawing/2014/main" id="{8D022CE3-DCBA-BD7B-16C7-17C1DF469412}"/>
              </a:ext>
            </a:extLst>
          </p:cNvPr>
          <p:cNvSpPr/>
          <p:nvPr/>
        </p:nvSpPr>
        <p:spPr>
          <a:xfrm>
            <a:off x="1359016" y="3547906"/>
            <a:ext cx="1904301" cy="57270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EHR : Clinical Note</a:t>
            </a:r>
          </a:p>
        </p:txBody>
      </p:sp>
      <p:sp>
        <p:nvSpPr>
          <p:cNvPr id="30" name="모서리가 둥근 직사각형 7">
            <a:extLst>
              <a:ext uri="{FF2B5EF4-FFF2-40B4-BE49-F238E27FC236}">
                <a16:creationId xmlns:a16="http://schemas.microsoft.com/office/drawing/2014/main" id="{81933778-B092-3EFA-222F-A4533032AA32}"/>
              </a:ext>
            </a:extLst>
          </p:cNvPr>
          <p:cNvSpPr/>
          <p:nvPr/>
        </p:nvSpPr>
        <p:spPr>
          <a:xfrm>
            <a:off x="5222551" y="3567177"/>
            <a:ext cx="1904301" cy="57270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EHR : Clinical Note</a:t>
            </a:r>
          </a:p>
        </p:txBody>
      </p:sp>
      <p:sp>
        <p:nvSpPr>
          <p:cNvPr id="31" name="모서리가 둥근 직사각형 7">
            <a:extLst>
              <a:ext uri="{FF2B5EF4-FFF2-40B4-BE49-F238E27FC236}">
                <a16:creationId xmlns:a16="http://schemas.microsoft.com/office/drawing/2014/main" id="{45927E5E-F4F7-9E1B-39F9-BC1416C4609A}"/>
              </a:ext>
            </a:extLst>
          </p:cNvPr>
          <p:cNvSpPr/>
          <p:nvPr/>
        </p:nvSpPr>
        <p:spPr>
          <a:xfrm>
            <a:off x="6279567" y="2348612"/>
            <a:ext cx="1275124" cy="57270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LLM</a:t>
            </a:r>
          </a:p>
        </p:txBody>
      </p:sp>
      <p:sp>
        <p:nvSpPr>
          <p:cNvPr id="32" name="모서리가 둥근 직사각형 7">
            <a:extLst>
              <a:ext uri="{FF2B5EF4-FFF2-40B4-BE49-F238E27FC236}">
                <a16:creationId xmlns:a16="http://schemas.microsoft.com/office/drawing/2014/main" id="{C02AB854-81FC-1B06-492B-8A085B7A187D}"/>
              </a:ext>
            </a:extLst>
          </p:cNvPr>
          <p:cNvSpPr/>
          <p:nvPr/>
        </p:nvSpPr>
        <p:spPr>
          <a:xfrm>
            <a:off x="4809699" y="2354053"/>
            <a:ext cx="1275124" cy="57270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3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DL, ML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2C12173-6325-0489-379A-504FC39E7CB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5443066" y="2926754"/>
            <a:ext cx="4195" cy="6404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29682FA-FC5D-7386-E4A2-A1F2CD936D04}"/>
              </a:ext>
            </a:extLst>
          </p:cNvPr>
          <p:cNvCxnSpPr>
            <a:cxnSpLocks/>
          </p:cNvCxnSpPr>
          <p:nvPr/>
        </p:nvCxnSpPr>
        <p:spPr>
          <a:xfrm>
            <a:off x="6906946" y="2926754"/>
            <a:ext cx="0" cy="6404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D7AF730-532E-00E8-0797-66399AD998B8}"/>
              </a:ext>
            </a:extLst>
          </p:cNvPr>
          <p:cNvSpPr/>
          <p:nvPr/>
        </p:nvSpPr>
        <p:spPr>
          <a:xfrm>
            <a:off x="4572000" y="2124908"/>
            <a:ext cx="3150474" cy="23405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90104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3B38085-667B-CBF1-5629-3235AE094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9383767C-F3E5-3C19-B149-E26B718FD5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5E039ED3-9FE4-8BA4-CF27-86007A08E071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F133EBA3-A7AA-7086-91D7-0563B859D49A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52E63739-D9B8-205E-A295-DE6478821B27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021AADBD-423D-77DB-9A46-59EF5B0551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17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A0B6D60E-CDE7-F452-77AA-007414678281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0CE0DD70-BC81-D47A-A076-D44160B160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" name="모서리가 둥근 직사각형 7">
            <a:extLst>
              <a:ext uri="{FF2B5EF4-FFF2-40B4-BE49-F238E27FC236}">
                <a16:creationId xmlns:a16="http://schemas.microsoft.com/office/drawing/2014/main" id="{5CB12389-C123-B590-327A-66640C2D1881}"/>
              </a:ext>
            </a:extLst>
          </p:cNvPr>
          <p:cNvSpPr/>
          <p:nvPr/>
        </p:nvSpPr>
        <p:spPr>
          <a:xfrm>
            <a:off x="4581275" y="1835603"/>
            <a:ext cx="4084552" cy="247363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4" name="모서리가 둥근 직사각형 7">
            <a:extLst>
              <a:ext uri="{FF2B5EF4-FFF2-40B4-BE49-F238E27FC236}">
                <a16:creationId xmlns:a16="http://schemas.microsoft.com/office/drawing/2014/main" id="{C2E3D66D-1069-1411-46D9-26DC6EE652CD}"/>
              </a:ext>
            </a:extLst>
          </p:cNvPr>
          <p:cNvSpPr/>
          <p:nvPr/>
        </p:nvSpPr>
        <p:spPr>
          <a:xfrm>
            <a:off x="4562726" y="1986672"/>
            <a:ext cx="4084553" cy="225421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Metadata : AD-positive or healthy</a:t>
            </a:r>
          </a:p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Data</a:t>
            </a:r>
            <a:r>
              <a:rPr kumimoji="1" lang="ko-KR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 </a:t>
            </a:r>
            <a:r>
              <a:rPr kumimoji="1" lang="en-US" altLang="ko-KR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:</a:t>
            </a:r>
            <a:r>
              <a:rPr kumimoji="1" lang="ko-KR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 </a:t>
            </a:r>
            <a:r>
              <a:rPr kumimoji="1" lang="en-US" altLang="ko-KR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7000 (MCI, ICD-10-CM G31.84)</a:t>
            </a:r>
          </a:p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Clinical Notes</a:t>
            </a:r>
          </a:p>
          <a:p>
            <a:pPr algn="ctr"/>
            <a:endParaRPr kumimoji="1" lang="en-US" altLang="en-US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endParaRPr kumimoji="1" lang="en-US" altLang="en-US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clinical note sections from Mass General Brigham (MGB)</a:t>
            </a:r>
          </a:p>
          <a:p>
            <a:pPr algn="ctr"/>
            <a:endParaRPr kumimoji="1" lang="en-US" altLang="en-US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5" name="모서리가 둥근 직사각형 7">
            <a:extLst>
              <a:ext uri="{FF2B5EF4-FFF2-40B4-BE49-F238E27FC236}">
                <a16:creationId xmlns:a16="http://schemas.microsoft.com/office/drawing/2014/main" id="{207E1DB1-6E70-21FE-C99F-306A5B5CD847}"/>
              </a:ext>
            </a:extLst>
          </p:cNvPr>
          <p:cNvSpPr/>
          <p:nvPr/>
        </p:nvSpPr>
        <p:spPr>
          <a:xfrm>
            <a:off x="418891" y="2100608"/>
            <a:ext cx="1225352" cy="33185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Dataset 1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04B4735-7C18-8581-23CC-39D46AC0CF4F}"/>
              </a:ext>
            </a:extLst>
          </p:cNvPr>
          <p:cNvSpPr/>
          <p:nvPr/>
        </p:nvSpPr>
        <p:spPr>
          <a:xfrm>
            <a:off x="418891" y="3387376"/>
            <a:ext cx="1225352" cy="33185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Dataset 2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14" name="모서리가 둥근 직사각형 7">
            <a:extLst>
              <a:ext uri="{FF2B5EF4-FFF2-40B4-BE49-F238E27FC236}">
                <a16:creationId xmlns:a16="http://schemas.microsoft.com/office/drawing/2014/main" id="{8EE0867F-F428-FF7D-28EB-C1790A9BF0E6}"/>
              </a:ext>
            </a:extLst>
          </p:cNvPr>
          <p:cNvSpPr/>
          <p:nvPr/>
        </p:nvSpPr>
        <p:spPr>
          <a:xfrm>
            <a:off x="1870631" y="1835603"/>
            <a:ext cx="2465705" cy="1145731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Data</a:t>
            </a:r>
            <a:r>
              <a:rPr kumimoji="1" lang="ko-KR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 </a:t>
            </a:r>
            <a:r>
              <a:rPr kumimoji="1" lang="en-US" altLang="ko-KR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:</a:t>
            </a:r>
            <a:r>
              <a:rPr kumimoji="1" lang="ko-KR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 </a:t>
            </a:r>
            <a:r>
              <a:rPr kumimoji="1" lang="en-US" altLang="ko-KR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4949 (Labeled set) </a:t>
            </a:r>
          </a:p>
          <a:p>
            <a:pPr algn="ctr"/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Clinical Notes</a:t>
            </a:r>
          </a:p>
          <a:p>
            <a:pPr algn="ctr"/>
            <a:endParaRPr kumimoji="1" lang="en-US" altLang="en-US" sz="1100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Filtered with expert-curated keywords related to cognition</a:t>
            </a:r>
          </a:p>
          <a:p>
            <a:pPr algn="ctr"/>
            <a:endParaRPr kumimoji="1" lang="en-US" altLang="en-US" sz="1100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15" name="모서리가 둥근 직사각형 7">
            <a:extLst>
              <a:ext uri="{FF2B5EF4-FFF2-40B4-BE49-F238E27FC236}">
                <a16:creationId xmlns:a16="http://schemas.microsoft.com/office/drawing/2014/main" id="{F391A5B4-7EC0-4C9F-546F-F753880F82BF}"/>
              </a:ext>
            </a:extLst>
          </p:cNvPr>
          <p:cNvSpPr/>
          <p:nvPr/>
        </p:nvSpPr>
        <p:spPr>
          <a:xfrm>
            <a:off x="1870632" y="3163511"/>
            <a:ext cx="2465705" cy="1145731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Data</a:t>
            </a:r>
            <a:r>
              <a:rPr kumimoji="1" lang="ko-KR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 </a:t>
            </a:r>
            <a:r>
              <a:rPr kumimoji="1" lang="en-US" altLang="ko-KR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:</a:t>
            </a:r>
            <a:r>
              <a:rPr kumimoji="1" lang="ko-KR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 </a:t>
            </a:r>
            <a:r>
              <a:rPr kumimoji="1" lang="en-US" altLang="ko-KR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1996 (Test set)</a:t>
            </a:r>
          </a:p>
          <a:p>
            <a:pPr algn="ctr"/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Clinical Notes</a:t>
            </a:r>
          </a:p>
          <a:p>
            <a:pPr algn="ctr"/>
            <a:endParaRPr kumimoji="1" lang="en-US" altLang="en-US" sz="1100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  <a:p>
            <a:pPr algn="ctr"/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Randomly sampled without keyword filtering for broader testing</a:t>
            </a:r>
          </a:p>
          <a:p>
            <a:pPr algn="ctr"/>
            <a:endParaRPr kumimoji="1" lang="en-US" altLang="en-US" sz="1100" b="1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618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D97917F-8B3B-C74A-4CB3-269A62D9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2C73AE72-79E1-D2EA-1EB9-6D35A96CE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53676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Traditional Machine Learning and Deep Learning Models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E6B9A372-8374-46D9-0EC9-BB012484F5EB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A5758C72-1019-8141-08EC-0C524E3B94CE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9EEC7F76-88BB-37A6-A0A9-2EEE82A0A460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62CADF3A-B8A2-BA61-1665-5935CF9157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18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3A6AE97A-114E-B480-D2A9-0898AE68C4EE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6E99F4FF-E5E2-6D93-60E4-369467D01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379F6460-ED2A-8BCC-F4CD-D67DD1F19496}"/>
              </a:ext>
            </a:extLst>
          </p:cNvPr>
          <p:cNvSpPr/>
          <p:nvPr/>
        </p:nvSpPr>
        <p:spPr>
          <a:xfrm>
            <a:off x="4814722" y="2004381"/>
            <a:ext cx="2609534" cy="33185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Attention-Based DNN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9" name="모서리가 둥근 직사각형 7">
            <a:extLst>
              <a:ext uri="{FF2B5EF4-FFF2-40B4-BE49-F238E27FC236}">
                <a16:creationId xmlns:a16="http://schemas.microsoft.com/office/drawing/2014/main" id="{9C6475A4-A6EE-4923-FA8D-B3224388DF69}"/>
              </a:ext>
            </a:extLst>
          </p:cNvPr>
          <p:cNvSpPr/>
          <p:nvPr/>
        </p:nvSpPr>
        <p:spPr>
          <a:xfrm>
            <a:off x="1090010" y="2004381"/>
            <a:ext cx="2609534" cy="33185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XGBoost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10" name="모서리가 둥근 직사각형 7">
            <a:extLst>
              <a:ext uri="{FF2B5EF4-FFF2-40B4-BE49-F238E27FC236}">
                <a16:creationId xmlns:a16="http://schemas.microsoft.com/office/drawing/2014/main" id="{C2CDF493-3DF4-D241-08E8-A6B3040C7037}"/>
              </a:ext>
            </a:extLst>
          </p:cNvPr>
          <p:cNvSpPr/>
          <p:nvPr/>
        </p:nvSpPr>
        <p:spPr>
          <a:xfrm>
            <a:off x="746061" y="2629683"/>
            <a:ext cx="3079318" cy="1145731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A gradient boosting decision tree algorithm that uses structured features (e.g., TF-IDF) extracted from clinical notes.</a:t>
            </a:r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DE562CD8-300A-FD46-793B-E283EB1A11DF}"/>
              </a:ext>
            </a:extLst>
          </p:cNvPr>
          <p:cNvSpPr/>
          <p:nvPr/>
        </p:nvSpPr>
        <p:spPr>
          <a:xfrm>
            <a:off x="3699544" y="2663889"/>
            <a:ext cx="5208679" cy="1145731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(1) Convolutional Neural Network (CNN) for local feature extraction</a:t>
            </a:r>
          </a:p>
          <a:p>
            <a:pPr algn="ctr">
              <a:lnSpc>
                <a:spcPct val="200000"/>
              </a:lnSpc>
            </a:pPr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(2) Bidirectional LSTM for contextual sequence understanding</a:t>
            </a:r>
          </a:p>
          <a:p>
            <a:pPr algn="ctr">
              <a:lnSpc>
                <a:spcPct val="200000"/>
              </a:lnSpc>
            </a:pPr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(3) Attention mechanism to focus on the most relevant parts of the text.</a:t>
            </a:r>
          </a:p>
        </p:txBody>
      </p:sp>
    </p:spTree>
    <p:extLst>
      <p:ext uri="{BB962C8B-B14F-4D97-AF65-F5344CB8AC3E}">
        <p14:creationId xmlns:p14="http://schemas.microsoft.com/office/powerpoint/2010/main" val="1802373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1F65205-6B19-1547-59B2-EB17E684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E819949A-2EAC-03DF-33C4-7FCE6026D5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53676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Large Language Models (LLMs)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1A79BE7B-3A71-11E0-C4A5-C23CE2E3F7BA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B77A1863-1EC8-312F-E5D6-176E33FCA235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21CB8906-3712-991F-42F6-5AC337D97581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574C72A5-60C6-B1EF-6FA2-6507C2B055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19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C68EB526-0BF1-9E8A-1A3C-9D7D71432877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E306BEA4-BA26-27E2-B0A0-792F916B5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42A776DC-E787-C83A-2696-C88050E576E3}"/>
              </a:ext>
            </a:extLst>
          </p:cNvPr>
          <p:cNvSpPr/>
          <p:nvPr/>
        </p:nvSpPr>
        <p:spPr>
          <a:xfrm>
            <a:off x="4814722" y="2004381"/>
            <a:ext cx="2609534" cy="33185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Llama 2 (Meta)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9" name="모서리가 둥근 직사각형 7">
            <a:extLst>
              <a:ext uri="{FF2B5EF4-FFF2-40B4-BE49-F238E27FC236}">
                <a16:creationId xmlns:a16="http://schemas.microsoft.com/office/drawing/2014/main" id="{05DA06CF-4345-0161-71FD-4CD6108234DB}"/>
              </a:ext>
            </a:extLst>
          </p:cNvPr>
          <p:cNvSpPr/>
          <p:nvPr/>
        </p:nvSpPr>
        <p:spPr>
          <a:xfrm>
            <a:off x="1090010" y="2004381"/>
            <a:ext cx="2609534" cy="33185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GPT-4 (OpenAI)</a:t>
            </a:r>
            <a:endParaRPr kumimoji="1" lang="ko-Kore-KR" altLang="en-US" b="1" dirty="0">
              <a:solidFill>
                <a:sysClr val="windowText" lastClr="000000"/>
              </a:solidFill>
              <a:latin typeface="Proxima Nova" panose="02000506030000020004" pitchFamily="2" charset="0"/>
            </a:endParaRPr>
          </a:p>
        </p:txBody>
      </p:sp>
      <p:sp>
        <p:nvSpPr>
          <p:cNvPr id="10" name="모서리가 둥근 직사각형 7">
            <a:extLst>
              <a:ext uri="{FF2B5EF4-FFF2-40B4-BE49-F238E27FC236}">
                <a16:creationId xmlns:a16="http://schemas.microsoft.com/office/drawing/2014/main" id="{E9B23558-1A67-AC0F-4EB4-F697DC67B5AB}"/>
              </a:ext>
            </a:extLst>
          </p:cNvPr>
          <p:cNvSpPr/>
          <p:nvPr/>
        </p:nvSpPr>
        <p:spPr>
          <a:xfrm>
            <a:off x="746061" y="2629683"/>
            <a:ext cx="3079318" cy="1145731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Employed various prompt-engineering techniques (zero-shot, few-shot, retrieval-augmented generation, and error-analysis instructions) to enhance performance.</a:t>
            </a:r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C09545AE-F2DE-5B56-C0DC-786F84F061D5}"/>
              </a:ext>
            </a:extLst>
          </p:cNvPr>
          <p:cNvSpPr/>
          <p:nvPr/>
        </p:nvSpPr>
        <p:spPr>
          <a:xfrm>
            <a:off x="4257133" y="2584718"/>
            <a:ext cx="3724712" cy="1145731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kumimoji="1" lang="en-US" altLang="en-US" sz="1100" b="1">
                <a:solidFill>
                  <a:sysClr val="windowText" lastClr="000000"/>
                </a:solidFill>
                <a:latin typeface="Proxima Nova" panose="02000506030000020004" pitchFamily="2" charset="0"/>
              </a:rPr>
              <a:t>An open-source 13B parameter model. Tested but showed lower accuracy and consistency in JSON-format output generation compared to GPT-4.</a:t>
            </a:r>
          </a:p>
        </p:txBody>
      </p:sp>
    </p:spTree>
    <p:extLst>
      <p:ext uri="{BB962C8B-B14F-4D97-AF65-F5344CB8AC3E}">
        <p14:creationId xmlns:p14="http://schemas.microsoft.com/office/powerpoint/2010/main" val="1700493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C25F4A0-BAF6-C345-6764-CE01C8544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0460AFA9-95A8-7B53-23A5-D8AC5F2AD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53676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Large Language Models (LLMs)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9F0CDC3A-6D9B-0800-FF57-0857D7B450D2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C1F29830-1E83-14A5-889E-43D1538D28EE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DFD46A1D-A6A4-C692-B751-EFA04851A93E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DC7DE5FB-4FAF-2C20-CCB7-682F77C199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20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6C95568-9E9E-EFE4-A9E8-16BCC471E0FD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4D11C87D-04A9-B108-7956-38FB92DC03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A9C67B0-3882-112F-787F-0808BFB05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125" y="1706818"/>
            <a:ext cx="6485365" cy="265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127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3B401EB9-C848-B447-CC56-C7DD95A2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90313111-4B7D-42DD-8A29-A41740F65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53676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Large Language Models (LLMs)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099AC910-4E38-C29B-8CBD-13BEB1B3A8A5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5776A29D-D43E-68B3-DB3F-650775CA72B2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B216CAA8-1339-EAAD-0F2E-E92666E70373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42B2CC3F-03B2-F239-0AA2-FC828426F2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21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1EBE79B1-3CD8-8FFA-1110-0186C0EABB61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519EB49E-A703-E5EA-59EE-419D8507ED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803CE0-3CA2-CBB3-D610-B227BF551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5" y="2063692"/>
            <a:ext cx="8065650" cy="202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87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4C65CF-B72B-03FC-21D0-A67B2E98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D503CBBC-D359-6D57-0614-82DD738A9F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53676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Large Language Models (LLMs)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B5C6C01E-CE9A-E03E-7F90-4C7879248888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3CE99E65-9324-409A-DCDD-C150B1C49CE2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5650BC10-0D77-BD1E-1C46-D25ACCA8D8F0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91065259-25B4-A63A-3CE4-5F1069906E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22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2C85BC1-5BA4-60E1-4E94-DF4E8A2254CE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8E8F5652-F64C-C19A-4C48-5C7F5A180D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F41630-5090-E853-3F98-88D767C4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76" y="2002850"/>
            <a:ext cx="6669248" cy="229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42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01F8AFF-BCC2-D0AF-64A8-CD11666C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CA9CCFA8-135C-B0C5-0824-D08799DC9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53676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DE1695BE-76BF-DEFD-226B-084D044CA7EF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3C4153B7-F9CD-2FDB-94BD-C406E1F1E7B4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9C0EC743-B09C-770A-760F-0FEEFCA6A89C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C831FCA7-D281-91DE-3209-AADFC5F305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23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7A005647-C370-B245-9ED8-C53CBF7C5F9C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3538718D-23E3-10D2-90D2-01E20ABFD6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BA811B-5E14-13E1-9F2A-A7899AFB6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57" y="1927126"/>
            <a:ext cx="7439036" cy="22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9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CDAF71B-2FD7-634F-32F8-FF57917F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95CF6CDF-8A08-2DE5-4490-E83A15CEC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53676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EEEA8D1E-1CF6-C4C5-674D-20B6D14620BE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A396FA9A-1329-9F5D-39DF-4138BEFF12DF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A3E3E272-BC31-7DE5-A5C2-5E7AEBCFCAAB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AA3AE27F-188C-F479-6A3C-8FB44A64A4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24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D90247EA-937F-0740-4E3F-498CBBDE0E3B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883BA4BD-4C38-0A70-0BF3-0DB352703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00BA76-1374-1E6F-C457-6F3BD9A94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406" y="1472591"/>
            <a:ext cx="6519541" cy="329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29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4E449B8-1EEA-B293-826E-A5D533FE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9FD41968-4750-9D18-9DDF-BFA2112FB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53676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B34C4261-32AA-8DAA-7BA3-BFBC81833C23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CDD20A77-A6CC-5EE9-DE07-1F1C357CDFF2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7EC96F77-BCAD-16F1-2DFD-A27D39C8C763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145DC1C2-F149-9927-AF50-5FF49710DC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25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934367B-9AE1-A578-8479-E685F1B05697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" name="Google Shape;87;p16">
            <a:extLst>
              <a:ext uri="{FF2B5EF4-FFF2-40B4-BE49-F238E27FC236}">
                <a16:creationId xmlns:a16="http://schemas.microsoft.com/office/drawing/2014/main" id="{5C9174DB-8D35-580C-842F-4505A28622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746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1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Enhancing early detection of cognitive decline in the elderly: a comparative study utilizing large language models in clinical notes</a:t>
            </a:r>
            <a:endParaRPr lang="en-US" sz="11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4605C5-BEEF-40B4-E28A-888D5E815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22" y="2097616"/>
            <a:ext cx="7088697" cy="18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81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8F71D8C-7696-E1FA-934F-DA3F0479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E315E107-5EB3-C225-1AA0-CCB9F7E1F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Comparative group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7EBAB699-1611-3256-B12A-25FB95530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500">
                <a:latin typeface="Proxima Nova Extrabold" panose="020B0600000101010101" charset="0"/>
              </a:rPr>
              <a:t>Result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534FA08F-8FDC-AAFE-74B8-68C5CEFDFC29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6046F434-BE3A-D563-0D79-CA11BCC28D97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1C608807-E08C-AA1C-BD4B-94E18D053F8B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744352AB-3A48-8D5A-1CCB-7DF8A1AFB0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26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92F58F7F-DA05-AC23-749F-E796FD3B0DA6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" name="모서리가 둥근 직사각형 23">
            <a:extLst>
              <a:ext uri="{FF2B5EF4-FFF2-40B4-BE49-F238E27FC236}">
                <a16:creationId xmlns:a16="http://schemas.microsoft.com/office/drawing/2014/main" id="{E0C4D2E8-D113-C329-6566-77CA64777329}"/>
              </a:ext>
            </a:extLst>
          </p:cNvPr>
          <p:cNvSpPr/>
          <p:nvPr/>
        </p:nvSpPr>
        <p:spPr>
          <a:xfrm>
            <a:off x="419270" y="1952520"/>
            <a:ext cx="1198664" cy="2473075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"_avg_words",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"_total_sentences",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"_avg_chars",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"_total_numbers",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"_avg_idf_weight",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"_polarity",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"_mrc_conc",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"_mrc_fam",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"_local_idf",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"_tf_score"</a:t>
            </a:r>
            <a:endParaRPr kumimoji="1" lang="en-US" altLang="ko-Kore-KR" sz="800" b="1" dirty="0">
              <a:solidFill>
                <a:srgbClr val="FF0000"/>
              </a:solidFill>
              <a:latin typeface="Proxima Nova" panose="02000506030000020004" pitchFamily="2" charset="0"/>
            </a:endParaRPr>
          </a:p>
        </p:txBody>
      </p:sp>
      <p:sp>
        <p:nvSpPr>
          <p:cNvPr id="8" name="모서리가 둥근 직사각형 23">
            <a:extLst>
              <a:ext uri="{FF2B5EF4-FFF2-40B4-BE49-F238E27FC236}">
                <a16:creationId xmlns:a16="http://schemas.microsoft.com/office/drawing/2014/main" id="{C51E50FC-8A39-B64E-2441-A88A749D640E}"/>
              </a:ext>
            </a:extLst>
          </p:cNvPr>
          <p:cNvSpPr/>
          <p:nvPr/>
        </p:nvSpPr>
        <p:spPr>
          <a:xfrm>
            <a:off x="3031740" y="1945342"/>
            <a:ext cx="1198664" cy="2473074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"_avg_words",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"_total_sentences",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"_avg_chars",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"_total_numbers",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"_avg_idf_weight",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"_polarity",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"_mrc_conc",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"_mrc_fam",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"_local_idf",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"_tf_score"</a:t>
            </a:r>
            <a:endParaRPr kumimoji="1" lang="en-US" altLang="ko-Kore-KR" sz="800" b="1" dirty="0">
              <a:solidFill>
                <a:srgbClr val="FF0000"/>
              </a:solidFill>
              <a:latin typeface="Proxima Nova" panose="02000506030000020004" pitchFamily="2" charset="0"/>
            </a:endParaRPr>
          </a:p>
        </p:txBody>
      </p:sp>
      <p:sp>
        <p:nvSpPr>
          <p:cNvPr id="9" name="모서리가 둥근 직사각형 23">
            <a:extLst>
              <a:ext uri="{FF2B5EF4-FFF2-40B4-BE49-F238E27FC236}">
                <a16:creationId xmlns:a16="http://schemas.microsoft.com/office/drawing/2014/main" id="{ECB7BCBA-A646-D047-E066-86479691602F}"/>
              </a:ext>
            </a:extLst>
          </p:cNvPr>
          <p:cNvSpPr/>
          <p:nvPr/>
        </p:nvSpPr>
        <p:spPr>
          <a:xfrm>
            <a:off x="4335355" y="1945342"/>
            <a:ext cx="1198664" cy="2473074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"_avg_words",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"_total_sentences",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"_avg_chars",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"_total_numbers",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"_avg_idf_weight",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"_polarity",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"_mrc_conc",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"_mrc_fam",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"_local_idf",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"_tf_score"</a:t>
            </a:r>
            <a:endParaRPr kumimoji="1" lang="en-US" altLang="ko-Kore-KR" sz="800" b="1" dirty="0">
              <a:solidFill>
                <a:srgbClr val="FF0000"/>
              </a:solidFill>
              <a:latin typeface="Proxima Nova" panose="02000506030000020004" pitchFamily="2" charset="0"/>
            </a:endParaRPr>
          </a:p>
        </p:txBody>
      </p:sp>
      <p:sp>
        <p:nvSpPr>
          <p:cNvPr id="10" name="모서리가 둥근 직사각형 23">
            <a:extLst>
              <a:ext uri="{FF2B5EF4-FFF2-40B4-BE49-F238E27FC236}">
                <a16:creationId xmlns:a16="http://schemas.microsoft.com/office/drawing/2014/main" id="{022C2B49-AB97-5787-94F6-C2B8EDD81903}"/>
              </a:ext>
            </a:extLst>
          </p:cNvPr>
          <p:cNvSpPr/>
          <p:nvPr/>
        </p:nvSpPr>
        <p:spPr>
          <a:xfrm>
            <a:off x="5638970" y="1945342"/>
            <a:ext cx="1198664" cy="2473074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"_avg_words",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"_total_sentences",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"_avg_chars",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"_total_numbers",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"_avg_idf_weight",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"_polarity",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"_mrc_conc",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"_mrc_fam",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"_local_idf",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"_tf_score"</a:t>
            </a:r>
            <a:endParaRPr kumimoji="1" lang="en-US" altLang="ko-Kore-KR" sz="800" b="1" dirty="0">
              <a:solidFill>
                <a:srgbClr val="FF0000"/>
              </a:solidFill>
              <a:latin typeface="Proxima Nova" panose="02000506030000020004" pitchFamily="2" charset="0"/>
            </a:endParaRPr>
          </a:p>
        </p:txBody>
      </p:sp>
      <p:sp>
        <p:nvSpPr>
          <p:cNvPr id="11" name="Google Shape;86;p16">
            <a:extLst>
              <a:ext uri="{FF2B5EF4-FFF2-40B4-BE49-F238E27FC236}">
                <a16:creationId xmlns:a16="http://schemas.microsoft.com/office/drawing/2014/main" id="{82DCC0EE-4F1C-0CB3-FA18-F6711E0A27A8}"/>
              </a:ext>
            </a:extLst>
          </p:cNvPr>
          <p:cNvSpPr txBox="1">
            <a:spLocks/>
          </p:cNvSpPr>
          <p:nvPr/>
        </p:nvSpPr>
        <p:spPr>
          <a:xfrm>
            <a:off x="108848" y="1614331"/>
            <a:ext cx="1680510" cy="43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indent="0" algn="ctr">
              <a:buClr>
                <a:schemeClr val="dk1"/>
              </a:buClr>
              <a:buSzPts val="2200"/>
              <a:buNone/>
            </a:pPr>
            <a:r>
              <a:rPr lang="en-US" sz="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Baseline</a:t>
            </a:r>
            <a:endParaRPr lang="en-US" sz="9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Google Shape;86;p16">
            <a:extLst>
              <a:ext uri="{FF2B5EF4-FFF2-40B4-BE49-F238E27FC236}">
                <a16:creationId xmlns:a16="http://schemas.microsoft.com/office/drawing/2014/main" id="{732E4CC5-421A-0710-0E55-9C120A8B8042}"/>
              </a:ext>
            </a:extLst>
          </p:cNvPr>
          <p:cNvSpPr txBox="1">
            <a:spLocks/>
          </p:cNvSpPr>
          <p:nvPr/>
        </p:nvSpPr>
        <p:spPr>
          <a:xfrm>
            <a:off x="3000720" y="1586943"/>
            <a:ext cx="1419490" cy="43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indent="0">
              <a:buClr>
                <a:schemeClr val="dk1"/>
              </a:buClr>
              <a:buSzPts val="2200"/>
              <a:buNone/>
            </a:pPr>
            <a:r>
              <a:rPr lang="en-US" sz="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Freeze + FS + 32</a:t>
            </a:r>
            <a:endParaRPr lang="en-US" sz="9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" name="Google Shape;86;p16">
            <a:extLst>
              <a:ext uri="{FF2B5EF4-FFF2-40B4-BE49-F238E27FC236}">
                <a16:creationId xmlns:a16="http://schemas.microsoft.com/office/drawing/2014/main" id="{82F46700-A596-0DD2-D375-1656C2FA8C7C}"/>
              </a:ext>
            </a:extLst>
          </p:cNvPr>
          <p:cNvSpPr txBox="1">
            <a:spLocks/>
          </p:cNvSpPr>
          <p:nvPr/>
        </p:nvSpPr>
        <p:spPr>
          <a:xfrm>
            <a:off x="4292928" y="1568391"/>
            <a:ext cx="1198664" cy="43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indent="0">
              <a:buClr>
                <a:schemeClr val="dk1"/>
              </a:buClr>
              <a:buSzPts val="2200"/>
              <a:buNone/>
            </a:pPr>
            <a:r>
              <a:rPr lang="en-US" altLang="ko-KR" sz="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Freeze + FS + 64</a:t>
            </a:r>
            <a:endParaRPr lang="en-US" altLang="ko-KR" sz="9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" name="모서리가 둥근 직사각형 23">
            <a:extLst>
              <a:ext uri="{FF2B5EF4-FFF2-40B4-BE49-F238E27FC236}">
                <a16:creationId xmlns:a16="http://schemas.microsoft.com/office/drawing/2014/main" id="{2F9ED9B1-363C-7A3A-461D-A16DF16312C3}"/>
              </a:ext>
            </a:extLst>
          </p:cNvPr>
          <p:cNvSpPr/>
          <p:nvPr/>
        </p:nvSpPr>
        <p:spPr>
          <a:xfrm>
            <a:off x="1725505" y="1944901"/>
            <a:ext cx="1198664" cy="2473074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"_avg_words",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"_total_sentences",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"_avg_chars",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"_total_numbers",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"_avg_idf_weight",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"_polarity",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"_mrc_conc",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"_mrc_fam",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"_local_idf",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"_tf_score"</a:t>
            </a:r>
            <a:endParaRPr kumimoji="1" lang="en-US" altLang="ko-Kore-KR" sz="800" b="1" dirty="0">
              <a:solidFill>
                <a:srgbClr val="FF0000"/>
              </a:solidFill>
              <a:latin typeface="Proxima Nova" panose="02000506030000020004" pitchFamily="2" charset="0"/>
            </a:endParaRPr>
          </a:p>
        </p:txBody>
      </p:sp>
      <p:sp>
        <p:nvSpPr>
          <p:cNvPr id="19" name="Google Shape;86;p16">
            <a:extLst>
              <a:ext uri="{FF2B5EF4-FFF2-40B4-BE49-F238E27FC236}">
                <a16:creationId xmlns:a16="http://schemas.microsoft.com/office/drawing/2014/main" id="{ECC64934-1AE4-7A82-AFA2-4F947A1D49CC}"/>
              </a:ext>
            </a:extLst>
          </p:cNvPr>
          <p:cNvSpPr txBox="1">
            <a:spLocks/>
          </p:cNvSpPr>
          <p:nvPr/>
        </p:nvSpPr>
        <p:spPr>
          <a:xfrm>
            <a:off x="1588006" y="1595134"/>
            <a:ext cx="1519831" cy="43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indent="0">
              <a:buClr>
                <a:schemeClr val="dk1"/>
              </a:buClr>
              <a:buSzPts val="2200"/>
              <a:buNone/>
            </a:pPr>
            <a:r>
              <a:rPr lang="en-US" sz="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Freeze + feature Selection</a:t>
            </a:r>
            <a:endParaRPr lang="en-US" sz="9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86;p16">
            <a:extLst>
              <a:ext uri="{FF2B5EF4-FFF2-40B4-BE49-F238E27FC236}">
                <a16:creationId xmlns:a16="http://schemas.microsoft.com/office/drawing/2014/main" id="{F31BEE33-392A-B311-3B7E-E5B1D12B8825}"/>
              </a:ext>
            </a:extLst>
          </p:cNvPr>
          <p:cNvSpPr txBox="1">
            <a:spLocks/>
          </p:cNvSpPr>
          <p:nvPr/>
        </p:nvSpPr>
        <p:spPr>
          <a:xfrm>
            <a:off x="5574650" y="1568390"/>
            <a:ext cx="1284710" cy="43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indent="0">
              <a:buClr>
                <a:schemeClr val="dk1"/>
              </a:buClr>
              <a:buSzPts val="2200"/>
              <a:buNone/>
            </a:pPr>
            <a:r>
              <a:rPr lang="en-US" altLang="ko-KR" sz="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Freeze + FS + 128</a:t>
            </a:r>
            <a:endParaRPr lang="en-US" altLang="ko-KR" sz="9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모서리가 둥근 직사각형 23">
            <a:extLst>
              <a:ext uri="{FF2B5EF4-FFF2-40B4-BE49-F238E27FC236}">
                <a16:creationId xmlns:a16="http://schemas.microsoft.com/office/drawing/2014/main" id="{6C078C8C-A57B-122F-F096-5D9319D04943}"/>
              </a:ext>
            </a:extLst>
          </p:cNvPr>
          <p:cNvSpPr/>
          <p:nvPr/>
        </p:nvSpPr>
        <p:spPr>
          <a:xfrm>
            <a:off x="6942418" y="1945342"/>
            <a:ext cx="1198664" cy="2473074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"_avg_words",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"_total_sentences",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"_avg_chars",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"_total_numbers",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 strike="sngStrike">
                <a:solidFill>
                  <a:schemeClr val="tx1"/>
                </a:solidFill>
                <a:latin typeface="Proxima Nova" panose="02000506030000020004" pitchFamily="2" charset="0"/>
              </a:rPr>
              <a:t>"_avg_idf_weight",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"_polarity",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"_mrc_conc",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"_mrc_fam",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"_local_idf",</a:t>
            </a:r>
          </a:p>
          <a:p>
            <a:pPr>
              <a:lnSpc>
                <a:spcPct val="140000"/>
              </a:lnSpc>
            </a:pPr>
            <a:r>
              <a:rPr kumimoji="1" lang="en-US" altLang="ko-Kore-KR" sz="800" b="1">
                <a:solidFill>
                  <a:srgbClr val="FF0000"/>
                </a:solidFill>
                <a:latin typeface="Proxima Nova" panose="02000506030000020004" pitchFamily="2" charset="0"/>
              </a:rPr>
              <a:t>"_tf_score"</a:t>
            </a:r>
            <a:endParaRPr kumimoji="1" lang="en-US" altLang="ko-Kore-KR" sz="800" b="1" dirty="0">
              <a:solidFill>
                <a:srgbClr val="FF0000"/>
              </a:solidFill>
              <a:latin typeface="Proxima Nova" panose="02000506030000020004" pitchFamily="2" charset="0"/>
            </a:endParaRPr>
          </a:p>
        </p:txBody>
      </p:sp>
      <p:sp>
        <p:nvSpPr>
          <p:cNvPr id="4" name="Google Shape;86;p16">
            <a:extLst>
              <a:ext uri="{FF2B5EF4-FFF2-40B4-BE49-F238E27FC236}">
                <a16:creationId xmlns:a16="http://schemas.microsoft.com/office/drawing/2014/main" id="{D8212691-D8E4-FE51-0CAF-A93B5CD03238}"/>
              </a:ext>
            </a:extLst>
          </p:cNvPr>
          <p:cNvSpPr txBox="1">
            <a:spLocks/>
          </p:cNvSpPr>
          <p:nvPr/>
        </p:nvSpPr>
        <p:spPr>
          <a:xfrm>
            <a:off x="6859360" y="1558919"/>
            <a:ext cx="1284710" cy="43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indent="0">
              <a:buClr>
                <a:schemeClr val="dk1"/>
              </a:buClr>
              <a:buSzPts val="2200"/>
              <a:buNone/>
            </a:pPr>
            <a:r>
              <a:rPr lang="en-US" altLang="ko-KR" sz="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Freeze + FS + 64</a:t>
            </a:r>
          </a:p>
          <a:p>
            <a:pPr marL="88900" indent="0">
              <a:buClr>
                <a:schemeClr val="dk1"/>
              </a:buClr>
              <a:buSzPts val="2200"/>
              <a:buNone/>
            </a:pPr>
            <a:r>
              <a:rPr lang="en-US" altLang="ko-KR" sz="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MeanPool + epoch 75  </a:t>
            </a:r>
            <a:endParaRPr lang="en-US" altLang="ko-KR" sz="9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503153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CB9922A-FFB3-E4D3-7409-3B206D37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83683434-E69A-9F0A-7027-77D6B37D54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8E59E2EC-3483-6DB0-1F78-D467BBCE2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500">
                <a:latin typeface="Proxima Nova Extrabold" panose="020B0600000101010101" charset="0"/>
              </a:rPr>
              <a:t>Result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CDE5A88E-7005-98C4-6D66-DAA006DF3DE5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002D9785-446E-5D3F-33C7-8233826CE564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6F034BFB-CAA1-4565-9F23-F46B4E46D45C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79CED42E-995A-C0E3-556B-3C1B1EEA88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27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672472D4-6D9E-0660-58EF-1881F102CF2C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9CF8F2-5644-66A1-4811-1EE829C09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26" y="1706818"/>
            <a:ext cx="7725747" cy="271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41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1DACDE6-21AD-A5BA-2865-C1ACD17E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821228A9-D25A-2A25-D532-EF5D4FA710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67215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68300"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Confusion Matrix  :  Freeze + FS + (DIM:64)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4246A68F-E28F-10D9-D7C1-070CAE4E23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500">
                <a:latin typeface="Proxima Nova Extrabold" panose="020B0600000101010101" charset="0"/>
              </a:rPr>
              <a:t>Result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5D5CC6D2-A4D6-3E9F-057F-6DCCD061F1FB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61EC40D1-7B4E-45B0-298F-8FB428BA0978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B27F8B5C-B240-CB1E-1742-B219910306E8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845591DB-2D9C-2FF9-3E54-0603613C35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28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9D02C036-01AC-FD1E-259A-A1DA990C4D9C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F7C0ED-DE1C-D593-5092-C375FC148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016" y="1534360"/>
            <a:ext cx="4171811" cy="3128858"/>
          </a:xfrm>
          <a:prstGeom prst="rect">
            <a:avLst/>
          </a:prstGeom>
        </p:spPr>
      </p:pic>
      <p:sp>
        <p:nvSpPr>
          <p:cNvPr id="4" name="모서리가 둥근 직사각형 7">
            <a:extLst>
              <a:ext uri="{FF2B5EF4-FFF2-40B4-BE49-F238E27FC236}">
                <a16:creationId xmlns:a16="http://schemas.microsoft.com/office/drawing/2014/main" id="{B7299864-7A08-7E80-3EB8-71E1EEA9ACCD}"/>
              </a:ext>
            </a:extLst>
          </p:cNvPr>
          <p:cNvSpPr/>
          <p:nvPr/>
        </p:nvSpPr>
        <p:spPr>
          <a:xfrm>
            <a:off x="1068018" y="1956048"/>
            <a:ext cx="1585765" cy="73252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en-US" sz="1100" b="1">
                <a:solidFill>
                  <a:srgbClr val="FF0000"/>
                </a:solidFill>
                <a:latin typeface="Proxima Nova" panose="02000506030000020004" pitchFamily="2" charset="0"/>
              </a:rPr>
              <a:t>Accuracy : 83.8 %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C48E26-F787-A3E2-3115-F2E745D039C0}"/>
              </a:ext>
            </a:extLst>
          </p:cNvPr>
          <p:cNvSpPr/>
          <p:nvPr/>
        </p:nvSpPr>
        <p:spPr>
          <a:xfrm>
            <a:off x="3842781" y="2588102"/>
            <a:ext cx="1735059" cy="17276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C9DFD6-BDDE-7576-A4F0-9518237E0835}"/>
              </a:ext>
            </a:extLst>
          </p:cNvPr>
          <p:cNvSpPr/>
          <p:nvPr/>
        </p:nvSpPr>
        <p:spPr>
          <a:xfrm>
            <a:off x="2991794" y="1743763"/>
            <a:ext cx="850988" cy="8443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91704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E16FD01-C29E-01D8-9626-BA1863AB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4D1FA617-B87A-6B8A-4224-B9595FD72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62110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8900" indent="0">
              <a:buClr>
                <a:schemeClr val="dk1"/>
              </a:buClr>
              <a:buSzPts val="2200"/>
              <a:buNone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Confusion Matrix  :  </a:t>
            </a:r>
            <a:r>
              <a:rPr lang="en-US" altLang="ko-KR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Freeze + FS + (DIM:64) + MeanPool + epoch 75  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7944FD65-A7DD-B591-E7B3-3D1DE8434E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500">
                <a:latin typeface="Proxima Nova Extrabold" panose="020B0600000101010101" charset="0"/>
              </a:rPr>
              <a:t>Result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BDB2D57B-95F1-8F47-D386-A25C509D326B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C573F3D9-8DEA-2F30-E696-6175A33B3FAF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D303457F-BECF-390C-B5FE-7B8E388BB5FD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CECFB840-3737-5F0B-F5B8-36686FE185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29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EC04B3A1-BDBD-5B4A-901F-28F22235E412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34F057-CB93-994C-EBCB-3F8F9D939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783" y="1551849"/>
            <a:ext cx="4442234" cy="3331676"/>
          </a:xfrm>
          <a:prstGeom prst="rect">
            <a:avLst/>
          </a:prstGeom>
        </p:spPr>
      </p:pic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0275830A-F658-5A83-2F04-27196EE0539D}"/>
              </a:ext>
            </a:extLst>
          </p:cNvPr>
          <p:cNvSpPr/>
          <p:nvPr/>
        </p:nvSpPr>
        <p:spPr>
          <a:xfrm>
            <a:off x="1221927" y="1927126"/>
            <a:ext cx="1585765" cy="73252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en-US" sz="1100" b="1">
                <a:solidFill>
                  <a:srgbClr val="FF0000"/>
                </a:solidFill>
                <a:latin typeface="Proxima Nova" panose="02000506030000020004" pitchFamily="2" charset="0"/>
              </a:rPr>
              <a:t>Accuracy : 85.8 %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C0EDE0-44C4-C3AD-1D9A-593DE7E55B27}"/>
              </a:ext>
            </a:extLst>
          </p:cNvPr>
          <p:cNvSpPr/>
          <p:nvPr/>
        </p:nvSpPr>
        <p:spPr>
          <a:xfrm>
            <a:off x="3858023" y="2694756"/>
            <a:ext cx="1849358" cy="1831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43A44B-E6C7-3044-1A41-48630B2A9A7D}"/>
              </a:ext>
            </a:extLst>
          </p:cNvPr>
          <p:cNvSpPr/>
          <p:nvPr/>
        </p:nvSpPr>
        <p:spPr>
          <a:xfrm>
            <a:off x="2954627" y="1797103"/>
            <a:ext cx="918635" cy="8976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07978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08D5F36-E105-C95E-1F12-CE29E5C8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57CAC825-7AE6-5DB0-F0A9-FB5E0514D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34118"/>
            <a:ext cx="41718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❏"/>
            </a:pPr>
            <a:r>
              <a:rPr lang="en-US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Detail</a:t>
            </a:r>
            <a:endParaRPr lang="en-US" sz="1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CA36A1D6-D979-8AFA-280D-92F659138D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44653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-KR" sz="1500">
                <a:latin typeface="Proxima Nova Extrabold" panose="020B0600000101010101" charset="0"/>
              </a:rPr>
              <a:t>Result</a:t>
            </a:r>
            <a:endParaRPr lang="en-US" sz="1500" dirty="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8" name="Google Shape;88;p16">
            <a:extLst>
              <a:ext uri="{FF2B5EF4-FFF2-40B4-BE49-F238E27FC236}">
                <a16:creationId xmlns:a16="http://schemas.microsoft.com/office/drawing/2014/main" id="{6784EACF-8781-F8A5-70D5-67014992F4E8}"/>
              </a:ext>
            </a:extLst>
          </p:cNvPr>
          <p:cNvGrpSpPr/>
          <p:nvPr/>
        </p:nvGrpSpPr>
        <p:grpSpPr>
          <a:xfrm>
            <a:off x="311700" y="844109"/>
            <a:ext cx="8186400" cy="69700"/>
            <a:chOff x="311700" y="1017720"/>
            <a:chExt cx="8186400" cy="69700"/>
          </a:xfrm>
        </p:grpSpPr>
        <p:cxnSp>
          <p:nvCxnSpPr>
            <p:cNvPr id="89" name="Google Shape;89;p16">
              <a:extLst>
                <a:ext uri="{FF2B5EF4-FFF2-40B4-BE49-F238E27FC236}">
                  <a16:creationId xmlns:a16="http://schemas.microsoft.com/office/drawing/2014/main" id="{D19C445C-8016-EEB1-8790-2EA3D2637F90}"/>
                </a:ext>
              </a:extLst>
            </p:cNvPr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16">
              <a:extLst>
                <a:ext uri="{FF2B5EF4-FFF2-40B4-BE49-F238E27FC236}">
                  <a16:creationId xmlns:a16="http://schemas.microsoft.com/office/drawing/2014/main" id="{D10D4D82-FD35-8499-8DD0-683FBF1E10FD}"/>
                </a:ext>
              </a:extLst>
            </p:cNvPr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D6104C82-7805-1151-ACAE-A9080C1F9F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30</a:t>
            </a:fld>
            <a:endParaRPr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76B138A4-74BC-0D53-930A-422D329F6973}"/>
              </a:ext>
            </a:extLst>
          </p:cNvPr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69D078-218D-46AF-116D-F26D15D29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14393" y="3190621"/>
            <a:ext cx="11395806" cy="15827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34DCE9B-A1D5-C5F2-364D-2B5656DCB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25900" y="1521063"/>
            <a:ext cx="11395800" cy="15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79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4"/>
          <p:cNvSpPr txBox="1">
            <a:spLocks noGrp="1"/>
          </p:cNvSpPr>
          <p:nvPr>
            <p:ph type="title"/>
          </p:nvPr>
        </p:nvSpPr>
        <p:spPr>
          <a:xfrm>
            <a:off x="311700" y="19382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4800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Thank you</a:t>
            </a:r>
            <a:endParaRPr sz="480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813" name="Google Shape;813;p54"/>
          <p:cNvGrpSpPr/>
          <p:nvPr/>
        </p:nvGrpSpPr>
        <p:grpSpPr>
          <a:xfrm>
            <a:off x="478800" y="2730820"/>
            <a:ext cx="8186400" cy="69700"/>
            <a:chOff x="311700" y="1017720"/>
            <a:chExt cx="8186400" cy="69700"/>
          </a:xfrm>
        </p:grpSpPr>
        <p:cxnSp>
          <p:nvCxnSpPr>
            <p:cNvPr id="814" name="Google Shape;814;p54"/>
            <p:cNvCxnSpPr/>
            <p:nvPr/>
          </p:nvCxnSpPr>
          <p:spPr>
            <a:xfrm>
              <a:off x="311700" y="10177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5" name="Google Shape;815;p54"/>
            <p:cNvCxnSpPr/>
            <p:nvPr/>
          </p:nvCxnSpPr>
          <p:spPr>
            <a:xfrm>
              <a:off x="311700" y="1087420"/>
              <a:ext cx="8186400" cy="0"/>
            </a:xfrm>
            <a:prstGeom prst="straightConnector1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16" name="Google Shape;81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31</a:t>
            </a:fld>
            <a:endParaRPr/>
          </a:p>
        </p:txBody>
      </p:sp>
      <p:sp>
        <p:nvSpPr>
          <p:cNvPr id="817" name="Google Shape;817;p54"/>
          <p:cNvSpPr/>
          <p:nvPr/>
        </p:nvSpPr>
        <p:spPr>
          <a:xfrm>
            <a:off x="9275" y="4883525"/>
            <a:ext cx="9144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666666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C&amp;I LAB</a:t>
            </a:r>
            <a:endParaRPr sz="1600">
              <a:solidFill>
                <a:srgbClr val="666666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20499</TotalTime>
  <Words>3590</Words>
  <Application>Microsoft Office PowerPoint</Application>
  <PresentationFormat>화면 슬라이드 쇼(16:9)</PresentationFormat>
  <Paragraphs>412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Arial</vt:lpstr>
      <vt:lpstr>Proxima Nova</vt:lpstr>
      <vt:lpstr>Proxima Nova Extrabold</vt:lpstr>
      <vt:lpstr>Simple Light</vt:lpstr>
      <vt:lpstr>Paper Review : MCI AD Classify</vt:lpstr>
      <vt:lpstr>Contents</vt:lpstr>
      <vt:lpstr>Comparing Speech and Language-based Approaches for Alzheimers Disease Detection</vt:lpstr>
      <vt:lpstr>Comparing Speech and Language-based Approaches for Alzheimers Disease Detection</vt:lpstr>
      <vt:lpstr>Comparing Speech and Language-based Approaches for Alzheimers Disease Detection</vt:lpstr>
      <vt:lpstr>Comparing Speech and Language-based Approaches for Alzheimers Disease Detection</vt:lpstr>
      <vt:lpstr>Result</vt:lpstr>
      <vt:lpstr>Comparing Speech and Language-based Approaches for Alzheimers Disease Detection</vt:lpstr>
      <vt:lpstr>Comparing Speech and Language-based Approaches for Alzheimers Disease Detection</vt:lpstr>
      <vt:lpstr>Result</vt:lpstr>
      <vt:lpstr>Comparing Speech and Language-based Approaches for Alzheimers Disease Detection</vt:lpstr>
      <vt:lpstr>Comparing Speech and Language-based Approaches for Alzheimers Disease Detection</vt:lpstr>
      <vt:lpstr>Comparing Speech and Language-based Approaches for Alzheimers Disease Detection</vt:lpstr>
      <vt:lpstr>Comparing Speech and Language-based Approaches for Alzheimers Disease Detection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Enhancing early detection of cognitive decline in the elderly: a comparative study utilizing large language models in clinical notes</vt:lpstr>
      <vt:lpstr>Result</vt:lpstr>
      <vt:lpstr>Result</vt:lpstr>
      <vt:lpstr>Result</vt:lpstr>
      <vt:lpstr>Result</vt:lpstr>
      <vt:lpstr>Result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Style-Based Generator Architecture for Generative Adversarial Networks</dc:title>
  <dc:creator>임석범</dc:creator>
  <cp:lastModifiedBy>임석범</cp:lastModifiedBy>
  <cp:revision>45</cp:revision>
  <dcterms:modified xsi:type="dcterms:W3CDTF">2025-02-27T22:52:39Z</dcterms:modified>
</cp:coreProperties>
</file>